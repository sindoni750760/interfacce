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4" r:id="rId10"/>
    <p:sldId id="265" r:id="rId11"/>
    <p:sldId id="269" r:id="rId12"/>
    <p:sldId id="266" r:id="rId13"/>
    <p:sldId id="267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274C60EF-1168-46A3-9725-A53BE277E0BB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8"/>
            <p14:sldId id="264"/>
            <p14:sldId id="265"/>
            <p14:sldId id="269"/>
            <p14:sldId id="266"/>
            <p14:sldId id="267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6.svg"/><Relationship Id="rId4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5" Type="http://schemas.openxmlformats.org/officeDocument/2006/relationships/image" Target="../media/image16.svg"/><Relationship Id="rId4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BC509-A0B4-4627-A518-3782A3D63C7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A7E3CA1-369E-4A8C-8675-9B1C4BB27856}">
      <dgm:prSet/>
      <dgm:spPr/>
      <dgm:t>
        <a:bodyPr/>
        <a:lstStyle/>
        <a:p>
          <a:r>
            <a:rPr lang="it-IT"/>
            <a:t>La loro pipeline è composta da:</a:t>
          </a:r>
          <a:endParaRPr lang="en-US"/>
        </a:p>
      </dgm:t>
    </dgm:pt>
    <dgm:pt modelId="{BC0AC260-A1E3-47D6-B254-9D558BD827DE}" type="parTrans" cxnId="{CF9686C3-07D9-4099-9252-0B07281DBD8E}">
      <dgm:prSet/>
      <dgm:spPr/>
      <dgm:t>
        <a:bodyPr/>
        <a:lstStyle/>
        <a:p>
          <a:endParaRPr lang="en-US"/>
        </a:p>
      </dgm:t>
    </dgm:pt>
    <dgm:pt modelId="{E6C700B5-F169-4A68-95F3-56982094FC85}" type="sibTrans" cxnId="{CF9686C3-07D9-4099-9252-0B07281DBD8E}">
      <dgm:prSet/>
      <dgm:spPr/>
      <dgm:t>
        <a:bodyPr/>
        <a:lstStyle/>
        <a:p>
          <a:endParaRPr lang="en-US"/>
        </a:p>
      </dgm:t>
    </dgm:pt>
    <dgm:pt modelId="{075089D3-BE14-4266-ABF1-3FFB5A5D0027}">
      <dgm:prSet/>
      <dgm:spPr/>
      <dgm:t>
        <a:bodyPr/>
        <a:lstStyle/>
        <a:p>
          <a:r>
            <a:rPr lang="it-IT"/>
            <a:t>parte dal segnale grezzo, </a:t>
          </a:r>
          <a:endParaRPr lang="en-US"/>
        </a:p>
      </dgm:t>
    </dgm:pt>
    <dgm:pt modelId="{97F5E366-48FB-4FC4-9006-535849A4E492}" type="parTrans" cxnId="{C84ED1DF-4199-4BAF-B505-6621333C2A62}">
      <dgm:prSet/>
      <dgm:spPr/>
      <dgm:t>
        <a:bodyPr/>
        <a:lstStyle/>
        <a:p>
          <a:endParaRPr lang="en-US"/>
        </a:p>
      </dgm:t>
    </dgm:pt>
    <dgm:pt modelId="{BC996D51-4A92-46DA-BC97-1B47A409E977}" type="sibTrans" cxnId="{C84ED1DF-4199-4BAF-B505-6621333C2A62}">
      <dgm:prSet/>
      <dgm:spPr/>
      <dgm:t>
        <a:bodyPr/>
        <a:lstStyle/>
        <a:p>
          <a:endParaRPr lang="en-US"/>
        </a:p>
      </dgm:t>
    </dgm:pt>
    <dgm:pt modelId="{8B347747-47CD-44CA-BF08-28BB0A77D277}">
      <dgm:prSet/>
      <dgm:spPr/>
      <dgm:t>
        <a:bodyPr/>
        <a:lstStyle/>
        <a:p>
          <a:r>
            <a:rPr lang="it-IT"/>
            <a:t>rimuove gli artefatti, </a:t>
          </a:r>
          <a:endParaRPr lang="en-US"/>
        </a:p>
      </dgm:t>
    </dgm:pt>
    <dgm:pt modelId="{C4417E34-54BA-4292-9277-15F2D1E204AC}" type="parTrans" cxnId="{EB6E9284-825C-4E1D-871A-3A3E25F333E7}">
      <dgm:prSet/>
      <dgm:spPr/>
      <dgm:t>
        <a:bodyPr/>
        <a:lstStyle/>
        <a:p>
          <a:endParaRPr lang="en-US"/>
        </a:p>
      </dgm:t>
    </dgm:pt>
    <dgm:pt modelId="{EC7B9672-4C4F-4448-AC11-0A2022D3D425}" type="sibTrans" cxnId="{EB6E9284-825C-4E1D-871A-3A3E25F333E7}">
      <dgm:prSet/>
      <dgm:spPr/>
      <dgm:t>
        <a:bodyPr/>
        <a:lstStyle/>
        <a:p>
          <a:endParaRPr lang="en-US"/>
        </a:p>
      </dgm:t>
    </dgm:pt>
    <dgm:pt modelId="{0EA5F1B9-2412-4F5E-AFD3-C90E7E2464D3}">
      <dgm:prSet/>
      <dgm:spPr/>
      <dgm:t>
        <a:bodyPr/>
        <a:lstStyle/>
        <a:p>
          <a:r>
            <a:rPr lang="it-IT"/>
            <a:t>filtra con un Butterworth passa‑banda tra 0.5 e 49 Hz, </a:t>
          </a:r>
          <a:endParaRPr lang="en-US"/>
        </a:p>
      </dgm:t>
    </dgm:pt>
    <dgm:pt modelId="{159EB9D2-A55F-4C4D-997A-A5D8D4D6E263}" type="parTrans" cxnId="{275E7837-865B-41DE-8098-3D881ADAD6B6}">
      <dgm:prSet/>
      <dgm:spPr/>
      <dgm:t>
        <a:bodyPr/>
        <a:lstStyle/>
        <a:p>
          <a:endParaRPr lang="en-US"/>
        </a:p>
      </dgm:t>
    </dgm:pt>
    <dgm:pt modelId="{1CAC74F2-9B69-4C2F-AA31-A9F59BC266D4}" type="sibTrans" cxnId="{275E7837-865B-41DE-8098-3D881ADAD6B6}">
      <dgm:prSet/>
      <dgm:spPr/>
      <dgm:t>
        <a:bodyPr/>
        <a:lstStyle/>
        <a:p>
          <a:endParaRPr lang="en-US"/>
        </a:p>
      </dgm:t>
    </dgm:pt>
    <dgm:pt modelId="{D4722AD9-E30E-48D8-B769-8B9F1FB4968E}">
      <dgm:prSet/>
      <dgm:spPr/>
      <dgm:t>
        <a:bodyPr/>
        <a:lstStyle/>
        <a:p>
          <a:r>
            <a:rPr lang="it-IT"/>
            <a:t>estrae quattordici feature lineari e tre non lineari, </a:t>
          </a:r>
          <a:endParaRPr lang="en-US"/>
        </a:p>
      </dgm:t>
    </dgm:pt>
    <dgm:pt modelId="{D3328D68-1564-404E-9E0A-816927C892D6}" type="parTrans" cxnId="{389218EE-EADE-4776-963A-5105ACA7CA97}">
      <dgm:prSet/>
      <dgm:spPr/>
      <dgm:t>
        <a:bodyPr/>
        <a:lstStyle/>
        <a:p>
          <a:endParaRPr lang="en-US"/>
        </a:p>
      </dgm:t>
    </dgm:pt>
    <dgm:pt modelId="{32572F5C-28DE-4391-937D-82C0B39626EF}" type="sibTrans" cxnId="{389218EE-EADE-4776-963A-5105ACA7CA97}">
      <dgm:prSet/>
      <dgm:spPr/>
      <dgm:t>
        <a:bodyPr/>
        <a:lstStyle/>
        <a:p>
          <a:endParaRPr lang="en-US"/>
        </a:p>
      </dgm:t>
    </dgm:pt>
    <dgm:pt modelId="{E1B0DB5C-DF06-463B-B2C4-45E72F1ADA30}">
      <dgm:prSet/>
      <dgm:spPr/>
      <dgm:t>
        <a:bodyPr/>
        <a:lstStyle/>
        <a:p>
          <a:r>
            <a:rPr lang="it-IT"/>
            <a:t>seleziona quelle significative e le classifica</a:t>
          </a:r>
          <a:endParaRPr lang="en-US"/>
        </a:p>
      </dgm:t>
    </dgm:pt>
    <dgm:pt modelId="{21E422A2-71F1-462E-A64B-408CF66DB9FB}" type="parTrans" cxnId="{9ABE9ED1-6EF9-49E0-94C2-A0BAB90F9003}">
      <dgm:prSet/>
      <dgm:spPr/>
      <dgm:t>
        <a:bodyPr/>
        <a:lstStyle/>
        <a:p>
          <a:endParaRPr lang="en-US"/>
        </a:p>
      </dgm:t>
    </dgm:pt>
    <dgm:pt modelId="{30337252-1235-4AD1-9F72-C7A1D48B542C}" type="sibTrans" cxnId="{9ABE9ED1-6EF9-49E0-94C2-A0BAB90F9003}">
      <dgm:prSet/>
      <dgm:spPr/>
      <dgm:t>
        <a:bodyPr/>
        <a:lstStyle/>
        <a:p>
          <a:endParaRPr lang="en-US"/>
        </a:p>
      </dgm:t>
    </dgm:pt>
    <dgm:pt modelId="{96F6F796-8114-4CA2-8B4E-91366CCC941F}" type="pres">
      <dgm:prSet presAssocID="{C48BC509-A0B4-4627-A518-3782A3D63C72}" presName="linear" presStyleCnt="0">
        <dgm:presLayoutVars>
          <dgm:animLvl val="lvl"/>
          <dgm:resizeHandles val="exact"/>
        </dgm:presLayoutVars>
      </dgm:prSet>
      <dgm:spPr/>
    </dgm:pt>
    <dgm:pt modelId="{26CC1117-E329-4153-86AC-D67CB7815DEB}" type="pres">
      <dgm:prSet presAssocID="{EA7E3CA1-369E-4A8C-8675-9B1C4BB2785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6AC71DE-854B-42D0-BBFB-8499E0131EA4}" type="pres">
      <dgm:prSet presAssocID="{EA7E3CA1-369E-4A8C-8675-9B1C4BB2785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829B012-A1D6-47F1-9CF2-15CAFCF5BEAE}" type="presOf" srcId="{075089D3-BE14-4266-ABF1-3FFB5A5D0027}" destId="{96AC71DE-854B-42D0-BBFB-8499E0131EA4}" srcOrd="0" destOrd="0" presId="urn:microsoft.com/office/officeart/2005/8/layout/vList2"/>
    <dgm:cxn modelId="{25DC8027-9FA4-4EBB-8F70-70D31F8A3D91}" type="presOf" srcId="{EA7E3CA1-369E-4A8C-8675-9B1C4BB27856}" destId="{26CC1117-E329-4153-86AC-D67CB7815DEB}" srcOrd="0" destOrd="0" presId="urn:microsoft.com/office/officeart/2005/8/layout/vList2"/>
    <dgm:cxn modelId="{5A64D434-C926-40C7-A549-64128A13CBBC}" type="presOf" srcId="{0EA5F1B9-2412-4F5E-AFD3-C90E7E2464D3}" destId="{96AC71DE-854B-42D0-BBFB-8499E0131EA4}" srcOrd="0" destOrd="2" presId="urn:microsoft.com/office/officeart/2005/8/layout/vList2"/>
    <dgm:cxn modelId="{275E7837-865B-41DE-8098-3D881ADAD6B6}" srcId="{EA7E3CA1-369E-4A8C-8675-9B1C4BB27856}" destId="{0EA5F1B9-2412-4F5E-AFD3-C90E7E2464D3}" srcOrd="2" destOrd="0" parTransId="{159EB9D2-A55F-4C4D-997A-A5D8D4D6E263}" sibTransId="{1CAC74F2-9B69-4C2F-AA31-A9F59BC266D4}"/>
    <dgm:cxn modelId="{B4562274-850C-40B5-8018-55D7F53D219B}" type="presOf" srcId="{C48BC509-A0B4-4627-A518-3782A3D63C72}" destId="{96F6F796-8114-4CA2-8B4E-91366CCC941F}" srcOrd="0" destOrd="0" presId="urn:microsoft.com/office/officeart/2005/8/layout/vList2"/>
    <dgm:cxn modelId="{EB6E9284-825C-4E1D-871A-3A3E25F333E7}" srcId="{EA7E3CA1-369E-4A8C-8675-9B1C4BB27856}" destId="{8B347747-47CD-44CA-BF08-28BB0A77D277}" srcOrd="1" destOrd="0" parTransId="{C4417E34-54BA-4292-9277-15F2D1E204AC}" sibTransId="{EC7B9672-4C4F-4448-AC11-0A2022D3D425}"/>
    <dgm:cxn modelId="{9DCECBA7-CC03-49D1-B69B-67E9031F9564}" type="presOf" srcId="{E1B0DB5C-DF06-463B-B2C4-45E72F1ADA30}" destId="{96AC71DE-854B-42D0-BBFB-8499E0131EA4}" srcOrd="0" destOrd="4" presId="urn:microsoft.com/office/officeart/2005/8/layout/vList2"/>
    <dgm:cxn modelId="{105C4BAE-C5F2-4F3E-A3A5-6AFD760FFE11}" type="presOf" srcId="{D4722AD9-E30E-48D8-B769-8B9F1FB4968E}" destId="{96AC71DE-854B-42D0-BBFB-8499E0131EA4}" srcOrd="0" destOrd="3" presId="urn:microsoft.com/office/officeart/2005/8/layout/vList2"/>
    <dgm:cxn modelId="{CF9686C3-07D9-4099-9252-0B07281DBD8E}" srcId="{C48BC509-A0B4-4627-A518-3782A3D63C72}" destId="{EA7E3CA1-369E-4A8C-8675-9B1C4BB27856}" srcOrd="0" destOrd="0" parTransId="{BC0AC260-A1E3-47D6-B254-9D558BD827DE}" sibTransId="{E6C700B5-F169-4A68-95F3-56982094FC85}"/>
    <dgm:cxn modelId="{8DB1B1C3-26E2-47E6-BB37-61B3977D063C}" type="presOf" srcId="{8B347747-47CD-44CA-BF08-28BB0A77D277}" destId="{96AC71DE-854B-42D0-BBFB-8499E0131EA4}" srcOrd="0" destOrd="1" presId="urn:microsoft.com/office/officeart/2005/8/layout/vList2"/>
    <dgm:cxn modelId="{9ABE9ED1-6EF9-49E0-94C2-A0BAB90F9003}" srcId="{EA7E3CA1-369E-4A8C-8675-9B1C4BB27856}" destId="{E1B0DB5C-DF06-463B-B2C4-45E72F1ADA30}" srcOrd="4" destOrd="0" parTransId="{21E422A2-71F1-462E-A64B-408CF66DB9FB}" sibTransId="{30337252-1235-4AD1-9F72-C7A1D48B542C}"/>
    <dgm:cxn modelId="{C84ED1DF-4199-4BAF-B505-6621333C2A62}" srcId="{EA7E3CA1-369E-4A8C-8675-9B1C4BB27856}" destId="{075089D3-BE14-4266-ABF1-3FFB5A5D0027}" srcOrd="0" destOrd="0" parTransId="{97F5E366-48FB-4FC4-9006-535849A4E492}" sibTransId="{BC996D51-4A92-46DA-BC97-1B47A409E977}"/>
    <dgm:cxn modelId="{389218EE-EADE-4776-963A-5105ACA7CA97}" srcId="{EA7E3CA1-369E-4A8C-8675-9B1C4BB27856}" destId="{D4722AD9-E30E-48D8-B769-8B9F1FB4968E}" srcOrd="3" destOrd="0" parTransId="{D3328D68-1564-404E-9E0A-816927C892D6}" sibTransId="{32572F5C-28DE-4391-937D-82C0B39626EF}"/>
    <dgm:cxn modelId="{12CF82A7-21AB-4871-BE3D-059304F75B96}" type="presParOf" srcId="{96F6F796-8114-4CA2-8B4E-91366CCC941F}" destId="{26CC1117-E329-4153-86AC-D67CB7815DEB}" srcOrd="0" destOrd="0" presId="urn:microsoft.com/office/officeart/2005/8/layout/vList2"/>
    <dgm:cxn modelId="{D0DADFDA-B81B-4EAF-BCC5-796F1BF14A91}" type="presParOf" srcId="{96F6F796-8114-4CA2-8B4E-91366CCC941F}" destId="{96AC71DE-854B-42D0-BBFB-8499E0131EA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923CA7-1F01-4199-9FA0-0F5240FC7B7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26A3DB3-9F91-4DA6-966C-B8BB5322D84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1) Caricamento e segmentazione dei dati</a:t>
          </a:r>
          <a:endParaRPr lang="en-US" dirty="0"/>
        </a:p>
      </dgm:t>
    </dgm:pt>
    <dgm:pt modelId="{C4DC2990-2FE3-4F20-86B5-7B660CAA72E5}" type="parTrans" cxnId="{6374ADAC-C62E-42AF-ADEE-51B8F206CC2B}">
      <dgm:prSet/>
      <dgm:spPr/>
      <dgm:t>
        <a:bodyPr/>
        <a:lstStyle/>
        <a:p>
          <a:endParaRPr lang="en-US"/>
        </a:p>
      </dgm:t>
    </dgm:pt>
    <dgm:pt modelId="{71752418-173C-4C7D-B546-2EC74F39609D}" type="sibTrans" cxnId="{6374ADAC-C62E-42AF-ADEE-51B8F206CC2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F636156-08A0-4EFD-A351-ED271FE0D73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2) Preprocessing</a:t>
          </a:r>
          <a:endParaRPr lang="en-US"/>
        </a:p>
      </dgm:t>
    </dgm:pt>
    <dgm:pt modelId="{036BEEE9-FBC8-4F4D-8187-ABF6AF46662F}" type="parTrans" cxnId="{FBB6471D-D6FC-44E4-877C-C5303C1D3D18}">
      <dgm:prSet/>
      <dgm:spPr/>
      <dgm:t>
        <a:bodyPr/>
        <a:lstStyle/>
        <a:p>
          <a:endParaRPr lang="en-US"/>
        </a:p>
      </dgm:t>
    </dgm:pt>
    <dgm:pt modelId="{6220DD69-A774-4BC5-9D22-333E8D7DD69B}" type="sibTrans" cxnId="{FBB6471D-D6FC-44E4-877C-C5303C1D3D1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60F47CE-244D-4548-A171-190845C9303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3) Estrazione delle feature</a:t>
          </a:r>
          <a:endParaRPr lang="en-US"/>
        </a:p>
      </dgm:t>
    </dgm:pt>
    <dgm:pt modelId="{96DE5E58-63D2-48FF-B481-336C62A80A0A}" type="parTrans" cxnId="{905A93D4-5B1E-44A1-BBFA-B0492B5BF80B}">
      <dgm:prSet/>
      <dgm:spPr/>
      <dgm:t>
        <a:bodyPr/>
        <a:lstStyle/>
        <a:p>
          <a:endParaRPr lang="en-US"/>
        </a:p>
      </dgm:t>
    </dgm:pt>
    <dgm:pt modelId="{8927BF05-1935-4DE3-9D05-9F5E44DEDEB2}" type="sibTrans" cxnId="{905A93D4-5B1E-44A1-BBFA-B0492B5BF80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A5BBC07-4C9F-42C1-B21E-8A24A0E86DA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4) selezione delle feature tramite test ANOVA, con soglia p-value 0,05</a:t>
          </a:r>
          <a:endParaRPr lang="en-US"/>
        </a:p>
      </dgm:t>
    </dgm:pt>
    <dgm:pt modelId="{58A6FE6D-5301-4B50-A8CA-4D0E4AAFD7AE}" type="parTrans" cxnId="{B1ABDFCB-AED3-4C8A-AD77-EE0573B8ABDC}">
      <dgm:prSet/>
      <dgm:spPr/>
      <dgm:t>
        <a:bodyPr/>
        <a:lstStyle/>
        <a:p>
          <a:endParaRPr lang="en-US"/>
        </a:p>
      </dgm:t>
    </dgm:pt>
    <dgm:pt modelId="{B811FCB4-18FF-4465-B3CE-5327CE5650A9}" type="sibTrans" cxnId="{B1ABDFCB-AED3-4C8A-AD77-EE0573B8ABD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31A1C54-9421-41EC-9221-A40F3147BB2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5) Addestramento e validazione di tre classificatori</a:t>
          </a:r>
          <a:endParaRPr lang="en-US"/>
        </a:p>
      </dgm:t>
    </dgm:pt>
    <dgm:pt modelId="{C2C7815C-24C5-46F0-9940-F4D82438C944}" type="parTrans" cxnId="{2E90F3E4-B8FB-4704-BE6D-031925D228D4}">
      <dgm:prSet/>
      <dgm:spPr/>
      <dgm:t>
        <a:bodyPr/>
        <a:lstStyle/>
        <a:p>
          <a:endParaRPr lang="en-US"/>
        </a:p>
      </dgm:t>
    </dgm:pt>
    <dgm:pt modelId="{FA073065-1CA2-4CD1-AAE3-71894A613B7F}" type="sibTrans" cxnId="{2E90F3E4-B8FB-4704-BE6D-031925D228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286DA61-E1E7-42B7-8D75-4F0B48C4CF0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6) Valutazione con metriche multiple e matrice di confusione</a:t>
          </a:r>
          <a:endParaRPr lang="en-US"/>
        </a:p>
      </dgm:t>
    </dgm:pt>
    <dgm:pt modelId="{00710408-EAC6-47F8-8825-21AE7FEF4E84}" type="parTrans" cxnId="{852B607B-D832-4A8B-A76F-C050C77B5838}">
      <dgm:prSet/>
      <dgm:spPr/>
      <dgm:t>
        <a:bodyPr/>
        <a:lstStyle/>
        <a:p>
          <a:endParaRPr lang="en-US"/>
        </a:p>
      </dgm:t>
    </dgm:pt>
    <dgm:pt modelId="{7591E5E3-9A1B-4134-BA4B-89CE17A122DD}" type="sibTrans" cxnId="{852B607B-D832-4A8B-A76F-C050C77B5838}">
      <dgm:prSet/>
      <dgm:spPr/>
      <dgm:t>
        <a:bodyPr/>
        <a:lstStyle/>
        <a:p>
          <a:endParaRPr lang="en-US"/>
        </a:p>
      </dgm:t>
    </dgm:pt>
    <dgm:pt modelId="{E5DA293B-C562-42C9-804E-8B654E40660B}" type="pres">
      <dgm:prSet presAssocID="{C5923CA7-1F01-4199-9FA0-0F5240FC7B79}" presName="root" presStyleCnt="0">
        <dgm:presLayoutVars>
          <dgm:dir/>
          <dgm:resizeHandles val="exact"/>
        </dgm:presLayoutVars>
      </dgm:prSet>
      <dgm:spPr/>
    </dgm:pt>
    <dgm:pt modelId="{313498BC-F744-448A-A1CC-BC957472A34A}" type="pres">
      <dgm:prSet presAssocID="{C5923CA7-1F01-4199-9FA0-0F5240FC7B79}" presName="container" presStyleCnt="0">
        <dgm:presLayoutVars>
          <dgm:dir/>
          <dgm:resizeHandles val="exact"/>
        </dgm:presLayoutVars>
      </dgm:prSet>
      <dgm:spPr/>
    </dgm:pt>
    <dgm:pt modelId="{4D1F526D-FD25-4E3D-8730-E381FF9C372B}" type="pres">
      <dgm:prSet presAssocID="{426A3DB3-9F91-4DA6-966C-B8BB5322D84F}" presName="compNode" presStyleCnt="0"/>
      <dgm:spPr/>
    </dgm:pt>
    <dgm:pt modelId="{A6FE0B6F-C914-4101-9E54-D66A45873CD2}" type="pres">
      <dgm:prSet presAssocID="{426A3DB3-9F91-4DA6-966C-B8BB5322D84F}" presName="iconBgRect" presStyleLbl="bgShp" presStyleIdx="0" presStyleCnt="6"/>
      <dgm:spPr/>
    </dgm:pt>
    <dgm:pt modelId="{D8960DCD-A6B1-4134-A6E7-A8955485DF0B}" type="pres">
      <dgm:prSet presAssocID="{426A3DB3-9F91-4DA6-966C-B8BB5322D84F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8C387454-E0C4-4408-97CA-C36D4A38CC8E}" type="pres">
      <dgm:prSet presAssocID="{426A3DB3-9F91-4DA6-966C-B8BB5322D84F}" presName="spaceRect" presStyleCnt="0"/>
      <dgm:spPr/>
    </dgm:pt>
    <dgm:pt modelId="{58D03D0B-80CA-47E4-8933-10A0027C7AF7}" type="pres">
      <dgm:prSet presAssocID="{426A3DB3-9F91-4DA6-966C-B8BB5322D84F}" presName="textRect" presStyleLbl="revTx" presStyleIdx="0" presStyleCnt="6">
        <dgm:presLayoutVars>
          <dgm:chMax val="1"/>
          <dgm:chPref val="1"/>
        </dgm:presLayoutVars>
      </dgm:prSet>
      <dgm:spPr/>
    </dgm:pt>
    <dgm:pt modelId="{598BF169-6CA0-47B9-BFCC-485ADB6FA78B}" type="pres">
      <dgm:prSet presAssocID="{71752418-173C-4C7D-B546-2EC74F39609D}" presName="sibTrans" presStyleLbl="sibTrans2D1" presStyleIdx="0" presStyleCnt="0"/>
      <dgm:spPr/>
    </dgm:pt>
    <dgm:pt modelId="{F3EF7E08-8996-4F84-9F1B-B3B861956FEB}" type="pres">
      <dgm:prSet presAssocID="{FF636156-08A0-4EFD-A351-ED271FE0D730}" presName="compNode" presStyleCnt="0"/>
      <dgm:spPr/>
    </dgm:pt>
    <dgm:pt modelId="{8EBC7AC6-E614-4426-B39F-4DD25FCE2694}" type="pres">
      <dgm:prSet presAssocID="{FF636156-08A0-4EFD-A351-ED271FE0D730}" presName="iconBgRect" presStyleLbl="bgShp" presStyleIdx="1" presStyleCnt="6"/>
      <dgm:spPr/>
    </dgm:pt>
    <dgm:pt modelId="{B1CCC59F-90C2-4ABB-82C9-2FD0E11933E9}" type="pres">
      <dgm:prSet presAssocID="{FF636156-08A0-4EFD-A351-ED271FE0D730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A60EFECD-AD34-4285-BB47-7BFAA719BA29}" type="pres">
      <dgm:prSet presAssocID="{FF636156-08A0-4EFD-A351-ED271FE0D730}" presName="spaceRect" presStyleCnt="0"/>
      <dgm:spPr/>
    </dgm:pt>
    <dgm:pt modelId="{E77BD379-06B4-4F5D-AE47-74B8486B04E9}" type="pres">
      <dgm:prSet presAssocID="{FF636156-08A0-4EFD-A351-ED271FE0D730}" presName="textRect" presStyleLbl="revTx" presStyleIdx="1" presStyleCnt="6">
        <dgm:presLayoutVars>
          <dgm:chMax val="1"/>
          <dgm:chPref val="1"/>
        </dgm:presLayoutVars>
      </dgm:prSet>
      <dgm:spPr/>
    </dgm:pt>
    <dgm:pt modelId="{F0494A4B-AB69-4431-8BBD-6FB937412FE9}" type="pres">
      <dgm:prSet presAssocID="{6220DD69-A774-4BC5-9D22-333E8D7DD69B}" presName="sibTrans" presStyleLbl="sibTrans2D1" presStyleIdx="0" presStyleCnt="0"/>
      <dgm:spPr/>
    </dgm:pt>
    <dgm:pt modelId="{8F3FDE53-9007-4B9F-AA87-A9478F074AFF}" type="pres">
      <dgm:prSet presAssocID="{660F47CE-244D-4548-A171-190845C93032}" presName="compNode" presStyleCnt="0"/>
      <dgm:spPr/>
    </dgm:pt>
    <dgm:pt modelId="{A3D066E8-C275-4A53-834C-3AF9642AD409}" type="pres">
      <dgm:prSet presAssocID="{660F47CE-244D-4548-A171-190845C93032}" presName="iconBgRect" presStyleLbl="bgShp" presStyleIdx="2" presStyleCnt="6"/>
      <dgm:spPr/>
    </dgm:pt>
    <dgm:pt modelId="{4D066A1E-79C0-4A8C-85E2-F1EBA3C3A56D}" type="pres">
      <dgm:prSet presAssocID="{660F47CE-244D-4548-A171-190845C93032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20996E8-F68F-483D-A5C2-4A22FF4E59FC}" type="pres">
      <dgm:prSet presAssocID="{660F47CE-244D-4548-A171-190845C93032}" presName="spaceRect" presStyleCnt="0"/>
      <dgm:spPr/>
    </dgm:pt>
    <dgm:pt modelId="{BE5C81D2-F3D2-4633-B76A-F552842707F9}" type="pres">
      <dgm:prSet presAssocID="{660F47CE-244D-4548-A171-190845C93032}" presName="textRect" presStyleLbl="revTx" presStyleIdx="2" presStyleCnt="6">
        <dgm:presLayoutVars>
          <dgm:chMax val="1"/>
          <dgm:chPref val="1"/>
        </dgm:presLayoutVars>
      </dgm:prSet>
      <dgm:spPr/>
    </dgm:pt>
    <dgm:pt modelId="{2F2375BB-0321-4732-8D54-459ACAD3230E}" type="pres">
      <dgm:prSet presAssocID="{8927BF05-1935-4DE3-9D05-9F5E44DEDEB2}" presName="sibTrans" presStyleLbl="sibTrans2D1" presStyleIdx="0" presStyleCnt="0"/>
      <dgm:spPr/>
    </dgm:pt>
    <dgm:pt modelId="{749E7EA1-732A-4D0E-9F9E-5EA352A0C04F}" type="pres">
      <dgm:prSet presAssocID="{CA5BBC07-4C9F-42C1-B21E-8A24A0E86DA3}" presName="compNode" presStyleCnt="0"/>
      <dgm:spPr/>
    </dgm:pt>
    <dgm:pt modelId="{88890F30-AA2A-4EAB-A6DD-B564F64A3A4A}" type="pres">
      <dgm:prSet presAssocID="{CA5BBC07-4C9F-42C1-B21E-8A24A0E86DA3}" presName="iconBgRect" presStyleLbl="bgShp" presStyleIdx="3" presStyleCnt="6"/>
      <dgm:spPr/>
    </dgm:pt>
    <dgm:pt modelId="{5CF9978C-AE57-420A-A8B8-7B4E28CEFAD3}" type="pres">
      <dgm:prSet presAssocID="{CA5BBC07-4C9F-42C1-B21E-8A24A0E86DA3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496FFEB0-1C29-4FA2-9A2D-A86635BF4B5B}" type="pres">
      <dgm:prSet presAssocID="{CA5BBC07-4C9F-42C1-B21E-8A24A0E86DA3}" presName="spaceRect" presStyleCnt="0"/>
      <dgm:spPr/>
    </dgm:pt>
    <dgm:pt modelId="{9F217302-C68F-48BD-998B-57A2C6E80701}" type="pres">
      <dgm:prSet presAssocID="{CA5BBC07-4C9F-42C1-B21E-8A24A0E86DA3}" presName="textRect" presStyleLbl="revTx" presStyleIdx="3" presStyleCnt="6">
        <dgm:presLayoutVars>
          <dgm:chMax val="1"/>
          <dgm:chPref val="1"/>
        </dgm:presLayoutVars>
      </dgm:prSet>
      <dgm:spPr/>
    </dgm:pt>
    <dgm:pt modelId="{D9CE7B1B-7A79-44F5-9E4D-DC2A9E4862F6}" type="pres">
      <dgm:prSet presAssocID="{B811FCB4-18FF-4465-B3CE-5327CE5650A9}" presName="sibTrans" presStyleLbl="sibTrans2D1" presStyleIdx="0" presStyleCnt="0"/>
      <dgm:spPr/>
    </dgm:pt>
    <dgm:pt modelId="{92C1ADBD-AE80-4C63-BFEA-21555B1CA595}" type="pres">
      <dgm:prSet presAssocID="{F31A1C54-9421-41EC-9221-A40F3147BB2B}" presName="compNode" presStyleCnt="0"/>
      <dgm:spPr/>
    </dgm:pt>
    <dgm:pt modelId="{E8DDFC81-8BEF-4D18-A6E5-744D713F1A1D}" type="pres">
      <dgm:prSet presAssocID="{F31A1C54-9421-41EC-9221-A40F3147BB2B}" presName="iconBgRect" presStyleLbl="bgShp" presStyleIdx="4" presStyleCnt="6"/>
      <dgm:spPr/>
    </dgm:pt>
    <dgm:pt modelId="{BBF1A446-7F14-4D29-985A-D70F644F5FA6}" type="pres">
      <dgm:prSet presAssocID="{F31A1C54-9421-41EC-9221-A40F3147BB2B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181FD00-F234-4603-80FE-AFBA7B4FA1F2}" type="pres">
      <dgm:prSet presAssocID="{F31A1C54-9421-41EC-9221-A40F3147BB2B}" presName="spaceRect" presStyleCnt="0"/>
      <dgm:spPr/>
    </dgm:pt>
    <dgm:pt modelId="{6943FB66-55E3-4D65-AA28-E6329CB6A532}" type="pres">
      <dgm:prSet presAssocID="{F31A1C54-9421-41EC-9221-A40F3147BB2B}" presName="textRect" presStyleLbl="revTx" presStyleIdx="4" presStyleCnt="6">
        <dgm:presLayoutVars>
          <dgm:chMax val="1"/>
          <dgm:chPref val="1"/>
        </dgm:presLayoutVars>
      </dgm:prSet>
      <dgm:spPr/>
    </dgm:pt>
    <dgm:pt modelId="{BFC305FF-728B-411B-8FF4-309C9B2323E3}" type="pres">
      <dgm:prSet presAssocID="{FA073065-1CA2-4CD1-AAE3-71894A613B7F}" presName="sibTrans" presStyleLbl="sibTrans2D1" presStyleIdx="0" presStyleCnt="0"/>
      <dgm:spPr/>
    </dgm:pt>
    <dgm:pt modelId="{29657027-8E24-4D03-83A4-6774599C89F3}" type="pres">
      <dgm:prSet presAssocID="{D286DA61-E1E7-42B7-8D75-4F0B48C4CF08}" presName="compNode" presStyleCnt="0"/>
      <dgm:spPr/>
    </dgm:pt>
    <dgm:pt modelId="{251725DF-59CD-4C57-930B-36A95A5F0396}" type="pres">
      <dgm:prSet presAssocID="{D286DA61-E1E7-42B7-8D75-4F0B48C4CF08}" presName="iconBgRect" presStyleLbl="bgShp" presStyleIdx="5" presStyleCnt="6"/>
      <dgm:spPr/>
    </dgm:pt>
    <dgm:pt modelId="{630F53A1-358E-42C6-B1C0-FF60C3DC6309}" type="pres">
      <dgm:prSet presAssocID="{D286DA61-E1E7-42B7-8D75-4F0B48C4CF08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5DBA9F12-95E4-4AF5-9EF0-55F8079B26E5}" type="pres">
      <dgm:prSet presAssocID="{D286DA61-E1E7-42B7-8D75-4F0B48C4CF08}" presName="spaceRect" presStyleCnt="0"/>
      <dgm:spPr/>
    </dgm:pt>
    <dgm:pt modelId="{FC5EF1B5-6288-43C4-B05E-661B28C645D5}" type="pres">
      <dgm:prSet presAssocID="{D286DA61-E1E7-42B7-8D75-4F0B48C4CF0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F329005-2EF3-4364-ABD7-10484E30BDE9}" type="presOf" srcId="{B811FCB4-18FF-4465-B3CE-5327CE5650A9}" destId="{D9CE7B1B-7A79-44F5-9E4D-DC2A9E4862F6}" srcOrd="0" destOrd="0" presId="urn:microsoft.com/office/officeart/2018/2/layout/IconCircleList"/>
    <dgm:cxn modelId="{6327E00C-8D3F-4236-B9B9-56F328F44848}" type="presOf" srcId="{FA073065-1CA2-4CD1-AAE3-71894A613B7F}" destId="{BFC305FF-728B-411B-8FF4-309C9B2323E3}" srcOrd="0" destOrd="0" presId="urn:microsoft.com/office/officeart/2018/2/layout/IconCircleList"/>
    <dgm:cxn modelId="{FBB6471D-D6FC-44E4-877C-C5303C1D3D18}" srcId="{C5923CA7-1F01-4199-9FA0-0F5240FC7B79}" destId="{FF636156-08A0-4EFD-A351-ED271FE0D730}" srcOrd="1" destOrd="0" parTransId="{036BEEE9-FBC8-4F4D-8187-ABF6AF46662F}" sibTransId="{6220DD69-A774-4BC5-9D22-333E8D7DD69B}"/>
    <dgm:cxn modelId="{909A071F-705B-4E9F-A3FB-433A4D653F17}" type="presOf" srcId="{6220DD69-A774-4BC5-9D22-333E8D7DD69B}" destId="{F0494A4B-AB69-4431-8BBD-6FB937412FE9}" srcOrd="0" destOrd="0" presId="urn:microsoft.com/office/officeart/2018/2/layout/IconCircleList"/>
    <dgm:cxn modelId="{7E3ADE3A-FC85-4EF4-8772-9BFF792A5AA2}" type="presOf" srcId="{C5923CA7-1F01-4199-9FA0-0F5240FC7B79}" destId="{E5DA293B-C562-42C9-804E-8B654E40660B}" srcOrd="0" destOrd="0" presId="urn:microsoft.com/office/officeart/2018/2/layout/IconCircleList"/>
    <dgm:cxn modelId="{A1C1AB3C-C802-4759-8254-69DBDD81D21C}" type="presOf" srcId="{CA5BBC07-4C9F-42C1-B21E-8A24A0E86DA3}" destId="{9F217302-C68F-48BD-998B-57A2C6E80701}" srcOrd="0" destOrd="0" presId="urn:microsoft.com/office/officeart/2018/2/layout/IconCircleList"/>
    <dgm:cxn modelId="{BA911940-373E-4299-AA6A-91BE6138124D}" type="presOf" srcId="{FF636156-08A0-4EFD-A351-ED271FE0D730}" destId="{E77BD379-06B4-4F5D-AE47-74B8486B04E9}" srcOrd="0" destOrd="0" presId="urn:microsoft.com/office/officeart/2018/2/layout/IconCircleList"/>
    <dgm:cxn modelId="{CB949249-FD24-430E-A9EB-53958E640E1F}" type="presOf" srcId="{426A3DB3-9F91-4DA6-966C-B8BB5322D84F}" destId="{58D03D0B-80CA-47E4-8933-10A0027C7AF7}" srcOrd="0" destOrd="0" presId="urn:microsoft.com/office/officeart/2018/2/layout/IconCircleList"/>
    <dgm:cxn modelId="{73377D70-6749-43A8-963E-7CE31D06DC1D}" type="presOf" srcId="{F31A1C54-9421-41EC-9221-A40F3147BB2B}" destId="{6943FB66-55E3-4D65-AA28-E6329CB6A532}" srcOrd="0" destOrd="0" presId="urn:microsoft.com/office/officeart/2018/2/layout/IconCircleList"/>
    <dgm:cxn modelId="{852B607B-D832-4A8B-A76F-C050C77B5838}" srcId="{C5923CA7-1F01-4199-9FA0-0F5240FC7B79}" destId="{D286DA61-E1E7-42B7-8D75-4F0B48C4CF08}" srcOrd="5" destOrd="0" parTransId="{00710408-EAC6-47F8-8825-21AE7FEF4E84}" sibTransId="{7591E5E3-9A1B-4134-BA4B-89CE17A122DD}"/>
    <dgm:cxn modelId="{9B11B27E-F80C-44A6-B7A8-12BD70C89C39}" type="presOf" srcId="{660F47CE-244D-4548-A171-190845C93032}" destId="{BE5C81D2-F3D2-4633-B76A-F552842707F9}" srcOrd="0" destOrd="0" presId="urn:microsoft.com/office/officeart/2018/2/layout/IconCircleList"/>
    <dgm:cxn modelId="{6374ADAC-C62E-42AF-ADEE-51B8F206CC2B}" srcId="{C5923CA7-1F01-4199-9FA0-0F5240FC7B79}" destId="{426A3DB3-9F91-4DA6-966C-B8BB5322D84F}" srcOrd="0" destOrd="0" parTransId="{C4DC2990-2FE3-4F20-86B5-7B660CAA72E5}" sibTransId="{71752418-173C-4C7D-B546-2EC74F39609D}"/>
    <dgm:cxn modelId="{65170FBC-F95F-4F75-8831-93388F4226F2}" type="presOf" srcId="{D286DA61-E1E7-42B7-8D75-4F0B48C4CF08}" destId="{FC5EF1B5-6288-43C4-B05E-661B28C645D5}" srcOrd="0" destOrd="0" presId="urn:microsoft.com/office/officeart/2018/2/layout/IconCircleList"/>
    <dgm:cxn modelId="{C27BA2BF-4EEC-48A5-9EF6-69B8C15B1577}" type="presOf" srcId="{8927BF05-1935-4DE3-9D05-9F5E44DEDEB2}" destId="{2F2375BB-0321-4732-8D54-459ACAD3230E}" srcOrd="0" destOrd="0" presId="urn:microsoft.com/office/officeart/2018/2/layout/IconCircleList"/>
    <dgm:cxn modelId="{B1ABDFCB-AED3-4C8A-AD77-EE0573B8ABDC}" srcId="{C5923CA7-1F01-4199-9FA0-0F5240FC7B79}" destId="{CA5BBC07-4C9F-42C1-B21E-8A24A0E86DA3}" srcOrd="3" destOrd="0" parTransId="{58A6FE6D-5301-4B50-A8CA-4D0E4AAFD7AE}" sibTransId="{B811FCB4-18FF-4465-B3CE-5327CE5650A9}"/>
    <dgm:cxn modelId="{905A93D4-5B1E-44A1-BBFA-B0492B5BF80B}" srcId="{C5923CA7-1F01-4199-9FA0-0F5240FC7B79}" destId="{660F47CE-244D-4548-A171-190845C93032}" srcOrd="2" destOrd="0" parTransId="{96DE5E58-63D2-48FF-B481-336C62A80A0A}" sibTransId="{8927BF05-1935-4DE3-9D05-9F5E44DEDEB2}"/>
    <dgm:cxn modelId="{613788E3-5B10-42F7-9A6D-52ED965A6ABC}" type="presOf" srcId="{71752418-173C-4C7D-B546-2EC74F39609D}" destId="{598BF169-6CA0-47B9-BFCC-485ADB6FA78B}" srcOrd="0" destOrd="0" presId="urn:microsoft.com/office/officeart/2018/2/layout/IconCircleList"/>
    <dgm:cxn modelId="{2E90F3E4-B8FB-4704-BE6D-031925D228D4}" srcId="{C5923CA7-1F01-4199-9FA0-0F5240FC7B79}" destId="{F31A1C54-9421-41EC-9221-A40F3147BB2B}" srcOrd="4" destOrd="0" parTransId="{C2C7815C-24C5-46F0-9940-F4D82438C944}" sibTransId="{FA073065-1CA2-4CD1-AAE3-71894A613B7F}"/>
    <dgm:cxn modelId="{23FAD2DF-B71C-4C9F-85F5-8A282C4FCCDA}" type="presParOf" srcId="{E5DA293B-C562-42C9-804E-8B654E40660B}" destId="{313498BC-F744-448A-A1CC-BC957472A34A}" srcOrd="0" destOrd="0" presId="urn:microsoft.com/office/officeart/2018/2/layout/IconCircleList"/>
    <dgm:cxn modelId="{067E2B67-7A7F-4245-8F3B-5AE4C22E598F}" type="presParOf" srcId="{313498BC-F744-448A-A1CC-BC957472A34A}" destId="{4D1F526D-FD25-4E3D-8730-E381FF9C372B}" srcOrd="0" destOrd="0" presId="urn:microsoft.com/office/officeart/2018/2/layout/IconCircleList"/>
    <dgm:cxn modelId="{02814F4D-C84C-4FA7-8DAB-B78A40A53D16}" type="presParOf" srcId="{4D1F526D-FD25-4E3D-8730-E381FF9C372B}" destId="{A6FE0B6F-C914-4101-9E54-D66A45873CD2}" srcOrd="0" destOrd="0" presId="urn:microsoft.com/office/officeart/2018/2/layout/IconCircleList"/>
    <dgm:cxn modelId="{CCFDA9FD-5E5B-4AE9-8CD6-9D10082BC49E}" type="presParOf" srcId="{4D1F526D-FD25-4E3D-8730-E381FF9C372B}" destId="{D8960DCD-A6B1-4134-A6E7-A8955485DF0B}" srcOrd="1" destOrd="0" presId="urn:microsoft.com/office/officeart/2018/2/layout/IconCircleList"/>
    <dgm:cxn modelId="{49A43645-C57C-429E-9E5B-7712D19A69DB}" type="presParOf" srcId="{4D1F526D-FD25-4E3D-8730-E381FF9C372B}" destId="{8C387454-E0C4-4408-97CA-C36D4A38CC8E}" srcOrd="2" destOrd="0" presId="urn:microsoft.com/office/officeart/2018/2/layout/IconCircleList"/>
    <dgm:cxn modelId="{95388CC2-E81C-4B24-BF27-098B69FB18A0}" type="presParOf" srcId="{4D1F526D-FD25-4E3D-8730-E381FF9C372B}" destId="{58D03D0B-80CA-47E4-8933-10A0027C7AF7}" srcOrd="3" destOrd="0" presId="urn:microsoft.com/office/officeart/2018/2/layout/IconCircleList"/>
    <dgm:cxn modelId="{E475944E-9F05-4484-8E65-A13F24C15BB5}" type="presParOf" srcId="{313498BC-F744-448A-A1CC-BC957472A34A}" destId="{598BF169-6CA0-47B9-BFCC-485ADB6FA78B}" srcOrd="1" destOrd="0" presId="urn:microsoft.com/office/officeart/2018/2/layout/IconCircleList"/>
    <dgm:cxn modelId="{C63E2D02-2B44-4350-8B98-3327DE8F6D78}" type="presParOf" srcId="{313498BC-F744-448A-A1CC-BC957472A34A}" destId="{F3EF7E08-8996-4F84-9F1B-B3B861956FEB}" srcOrd="2" destOrd="0" presId="urn:microsoft.com/office/officeart/2018/2/layout/IconCircleList"/>
    <dgm:cxn modelId="{6FC275B4-CC35-4C58-B4A4-5519BA5587D5}" type="presParOf" srcId="{F3EF7E08-8996-4F84-9F1B-B3B861956FEB}" destId="{8EBC7AC6-E614-4426-B39F-4DD25FCE2694}" srcOrd="0" destOrd="0" presId="urn:microsoft.com/office/officeart/2018/2/layout/IconCircleList"/>
    <dgm:cxn modelId="{4C693919-74D7-4EE3-83A7-0A5C69FF9612}" type="presParOf" srcId="{F3EF7E08-8996-4F84-9F1B-B3B861956FEB}" destId="{B1CCC59F-90C2-4ABB-82C9-2FD0E11933E9}" srcOrd="1" destOrd="0" presId="urn:microsoft.com/office/officeart/2018/2/layout/IconCircleList"/>
    <dgm:cxn modelId="{B68C5E10-87E3-4505-B8C3-8345F2813882}" type="presParOf" srcId="{F3EF7E08-8996-4F84-9F1B-B3B861956FEB}" destId="{A60EFECD-AD34-4285-BB47-7BFAA719BA29}" srcOrd="2" destOrd="0" presId="urn:microsoft.com/office/officeart/2018/2/layout/IconCircleList"/>
    <dgm:cxn modelId="{748BBE2B-304A-4839-A575-13E1BBC651C5}" type="presParOf" srcId="{F3EF7E08-8996-4F84-9F1B-B3B861956FEB}" destId="{E77BD379-06B4-4F5D-AE47-74B8486B04E9}" srcOrd="3" destOrd="0" presId="urn:microsoft.com/office/officeart/2018/2/layout/IconCircleList"/>
    <dgm:cxn modelId="{A580864D-E79F-4CB4-B486-001B70128232}" type="presParOf" srcId="{313498BC-F744-448A-A1CC-BC957472A34A}" destId="{F0494A4B-AB69-4431-8BBD-6FB937412FE9}" srcOrd="3" destOrd="0" presId="urn:microsoft.com/office/officeart/2018/2/layout/IconCircleList"/>
    <dgm:cxn modelId="{79E153B7-D210-4924-A647-7EE16AFAF36B}" type="presParOf" srcId="{313498BC-F744-448A-A1CC-BC957472A34A}" destId="{8F3FDE53-9007-4B9F-AA87-A9478F074AFF}" srcOrd="4" destOrd="0" presId="urn:microsoft.com/office/officeart/2018/2/layout/IconCircleList"/>
    <dgm:cxn modelId="{48D3C68D-2066-41AA-9EB3-ADD21D83BA67}" type="presParOf" srcId="{8F3FDE53-9007-4B9F-AA87-A9478F074AFF}" destId="{A3D066E8-C275-4A53-834C-3AF9642AD409}" srcOrd="0" destOrd="0" presId="urn:microsoft.com/office/officeart/2018/2/layout/IconCircleList"/>
    <dgm:cxn modelId="{DBF9CB47-6C62-4DCF-8519-F86A3239E616}" type="presParOf" srcId="{8F3FDE53-9007-4B9F-AA87-A9478F074AFF}" destId="{4D066A1E-79C0-4A8C-85E2-F1EBA3C3A56D}" srcOrd="1" destOrd="0" presId="urn:microsoft.com/office/officeart/2018/2/layout/IconCircleList"/>
    <dgm:cxn modelId="{70E5C7CB-1CBD-4124-B1A0-347EFDE824BE}" type="presParOf" srcId="{8F3FDE53-9007-4B9F-AA87-A9478F074AFF}" destId="{F20996E8-F68F-483D-A5C2-4A22FF4E59FC}" srcOrd="2" destOrd="0" presId="urn:microsoft.com/office/officeart/2018/2/layout/IconCircleList"/>
    <dgm:cxn modelId="{FC68BC51-4A99-4FCC-B97A-1843B3813503}" type="presParOf" srcId="{8F3FDE53-9007-4B9F-AA87-A9478F074AFF}" destId="{BE5C81D2-F3D2-4633-B76A-F552842707F9}" srcOrd="3" destOrd="0" presId="urn:microsoft.com/office/officeart/2018/2/layout/IconCircleList"/>
    <dgm:cxn modelId="{994B663E-8949-406C-BEBA-CE4148B21ECE}" type="presParOf" srcId="{313498BC-F744-448A-A1CC-BC957472A34A}" destId="{2F2375BB-0321-4732-8D54-459ACAD3230E}" srcOrd="5" destOrd="0" presId="urn:microsoft.com/office/officeart/2018/2/layout/IconCircleList"/>
    <dgm:cxn modelId="{B719ED20-21D3-41F7-8080-11A6780361FA}" type="presParOf" srcId="{313498BC-F744-448A-A1CC-BC957472A34A}" destId="{749E7EA1-732A-4D0E-9F9E-5EA352A0C04F}" srcOrd="6" destOrd="0" presId="urn:microsoft.com/office/officeart/2018/2/layout/IconCircleList"/>
    <dgm:cxn modelId="{34B23AF9-ED98-412F-9383-CC2AC142B77C}" type="presParOf" srcId="{749E7EA1-732A-4D0E-9F9E-5EA352A0C04F}" destId="{88890F30-AA2A-4EAB-A6DD-B564F64A3A4A}" srcOrd="0" destOrd="0" presId="urn:microsoft.com/office/officeart/2018/2/layout/IconCircleList"/>
    <dgm:cxn modelId="{D51CAF12-B3F0-41A2-BDB2-2C3198BDFF89}" type="presParOf" srcId="{749E7EA1-732A-4D0E-9F9E-5EA352A0C04F}" destId="{5CF9978C-AE57-420A-A8B8-7B4E28CEFAD3}" srcOrd="1" destOrd="0" presId="urn:microsoft.com/office/officeart/2018/2/layout/IconCircleList"/>
    <dgm:cxn modelId="{E8B4A5C9-A4A6-44E5-9F8C-5C8029B90BB0}" type="presParOf" srcId="{749E7EA1-732A-4D0E-9F9E-5EA352A0C04F}" destId="{496FFEB0-1C29-4FA2-9A2D-A86635BF4B5B}" srcOrd="2" destOrd="0" presId="urn:microsoft.com/office/officeart/2018/2/layout/IconCircleList"/>
    <dgm:cxn modelId="{FE6E5279-02A1-48D8-943D-B79DE2048374}" type="presParOf" srcId="{749E7EA1-732A-4D0E-9F9E-5EA352A0C04F}" destId="{9F217302-C68F-48BD-998B-57A2C6E80701}" srcOrd="3" destOrd="0" presId="urn:microsoft.com/office/officeart/2018/2/layout/IconCircleList"/>
    <dgm:cxn modelId="{E629A0BD-E25C-4183-8788-20DD849EBF2D}" type="presParOf" srcId="{313498BC-F744-448A-A1CC-BC957472A34A}" destId="{D9CE7B1B-7A79-44F5-9E4D-DC2A9E4862F6}" srcOrd="7" destOrd="0" presId="urn:microsoft.com/office/officeart/2018/2/layout/IconCircleList"/>
    <dgm:cxn modelId="{972E4608-9448-45A2-A9D6-FA88247B3FDB}" type="presParOf" srcId="{313498BC-F744-448A-A1CC-BC957472A34A}" destId="{92C1ADBD-AE80-4C63-BFEA-21555B1CA595}" srcOrd="8" destOrd="0" presId="urn:microsoft.com/office/officeart/2018/2/layout/IconCircleList"/>
    <dgm:cxn modelId="{323CCDB7-B2A9-4533-8FE1-452099CF586D}" type="presParOf" srcId="{92C1ADBD-AE80-4C63-BFEA-21555B1CA595}" destId="{E8DDFC81-8BEF-4D18-A6E5-744D713F1A1D}" srcOrd="0" destOrd="0" presId="urn:microsoft.com/office/officeart/2018/2/layout/IconCircleList"/>
    <dgm:cxn modelId="{301044EB-817E-467D-B6EB-D0CDE80AF357}" type="presParOf" srcId="{92C1ADBD-AE80-4C63-BFEA-21555B1CA595}" destId="{BBF1A446-7F14-4D29-985A-D70F644F5FA6}" srcOrd="1" destOrd="0" presId="urn:microsoft.com/office/officeart/2018/2/layout/IconCircleList"/>
    <dgm:cxn modelId="{9732CAC2-B925-459D-8BDE-F632AEFA44B1}" type="presParOf" srcId="{92C1ADBD-AE80-4C63-BFEA-21555B1CA595}" destId="{A181FD00-F234-4603-80FE-AFBA7B4FA1F2}" srcOrd="2" destOrd="0" presId="urn:microsoft.com/office/officeart/2018/2/layout/IconCircleList"/>
    <dgm:cxn modelId="{489C7789-9729-4834-8DEC-3BB39F3F51DC}" type="presParOf" srcId="{92C1ADBD-AE80-4C63-BFEA-21555B1CA595}" destId="{6943FB66-55E3-4D65-AA28-E6329CB6A532}" srcOrd="3" destOrd="0" presId="urn:microsoft.com/office/officeart/2018/2/layout/IconCircleList"/>
    <dgm:cxn modelId="{DBF1CEAD-AD1A-44E2-8E1D-86F284294882}" type="presParOf" srcId="{313498BC-F744-448A-A1CC-BC957472A34A}" destId="{BFC305FF-728B-411B-8FF4-309C9B2323E3}" srcOrd="9" destOrd="0" presId="urn:microsoft.com/office/officeart/2018/2/layout/IconCircleList"/>
    <dgm:cxn modelId="{FB702EB8-664C-4EFB-9466-49BF9A3355B2}" type="presParOf" srcId="{313498BC-F744-448A-A1CC-BC957472A34A}" destId="{29657027-8E24-4D03-83A4-6774599C89F3}" srcOrd="10" destOrd="0" presId="urn:microsoft.com/office/officeart/2018/2/layout/IconCircleList"/>
    <dgm:cxn modelId="{98C9BF1C-B030-4C8A-8DC9-1CB932297C75}" type="presParOf" srcId="{29657027-8E24-4D03-83A4-6774599C89F3}" destId="{251725DF-59CD-4C57-930B-36A95A5F0396}" srcOrd="0" destOrd="0" presId="urn:microsoft.com/office/officeart/2018/2/layout/IconCircleList"/>
    <dgm:cxn modelId="{2F5A35D6-F664-45CA-BBBD-88EBF81D00D3}" type="presParOf" srcId="{29657027-8E24-4D03-83A4-6774599C89F3}" destId="{630F53A1-358E-42C6-B1C0-FF60C3DC6309}" srcOrd="1" destOrd="0" presId="urn:microsoft.com/office/officeart/2018/2/layout/IconCircleList"/>
    <dgm:cxn modelId="{6577E745-0248-4A8C-A10B-07F42D4BD383}" type="presParOf" srcId="{29657027-8E24-4D03-83A4-6774599C89F3}" destId="{5DBA9F12-95E4-4AF5-9EF0-55F8079B26E5}" srcOrd="2" destOrd="0" presId="urn:microsoft.com/office/officeart/2018/2/layout/IconCircleList"/>
    <dgm:cxn modelId="{9B15635A-1478-4267-AB8D-0AC53ECBADE2}" type="presParOf" srcId="{29657027-8E24-4D03-83A4-6774599C89F3}" destId="{FC5EF1B5-6288-43C4-B05E-661B28C645D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CD8790-F856-4861-BC42-C00188E4DBD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BF2A920-77E9-4C40-A075-18D5B5D3C752}">
      <dgm:prSet/>
      <dgm:spPr/>
      <dgm:t>
        <a:bodyPr/>
        <a:lstStyle/>
        <a:p>
          <a:pPr>
            <a:defRPr cap="all"/>
          </a:pPr>
          <a:r>
            <a:rPr lang="it-IT"/>
            <a:t>L’accuratezza del Random Forest scende al 68%; la matrice di confusione mostra una notevole confusione tra stress e amusement, entrambi caratterizzati da un’attivazione del simpatico, anche se di natura diversa.</a:t>
          </a:r>
          <a:br>
            <a:rPr lang="it-IT"/>
          </a:br>
          <a:endParaRPr lang="en-US"/>
        </a:p>
      </dgm:t>
    </dgm:pt>
    <dgm:pt modelId="{5EBAE4CC-E9A1-44FF-A38D-8AB9DBCC8128}" type="parTrans" cxnId="{F6781D80-7E65-4E03-AE79-066FD3B6706F}">
      <dgm:prSet/>
      <dgm:spPr/>
      <dgm:t>
        <a:bodyPr/>
        <a:lstStyle/>
        <a:p>
          <a:endParaRPr lang="en-US"/>
        </a:p>
      </dgm:t>
    </dgm:pt>
    <dgm:pt modelId="{CA6F79C8-1FC1-4B54-9918-296F0DBE91FC}" type="sibTrans" cxnId="{F6781D80-7E65-4E03-AE79-066FD3B6706F}">
      <dgm:prSet/>
      <dgm:spPr/>
      <dgm:t>
        <a:bodyPr/>
        <a:lstStyle/>
        <a:p>
          <a:endParaRPr lang="en-US"/>
        </a:p>
      </dgm:t>
    </dgm:pt>
    <dgm:pt modelId="{416B9EEC-6191-4F93-83CE-3DC8EC9AF07C}">
      <dgm:prSet/>
      <dgm:spPr/>
      <dgm:t>
        <a:bodyPr/>
        <a:lstStyle/>
        <a:p>
          <a:pPr>
            <a:defRPr cap="all"/>
          </a:pPr>
          <a:r>
            <a:rPr lang="it-IT"/>
            <a:t>Nel paper, il passaggio da due a cinque classi faceva scendere l’accuratezza al 58%, quindi il nostro degrado è perfettamente in linea con quanto osservato dagli autori.</a:t>
          </a:r>
          <a:br>
            <a:rPr lang="it-IT"/>
          </a:br>
          <a:r>
            <a:rPr lang="it-IT"/>
            <a:t>Anche in questo caso, ANOVA ha selezionato dodici feature, poi ridotte a sei con PCA, ottenendo un piccolo miglioramento.</a:t>
          </a:r>
          <a:endParaRPr lang="en-US"/>
        </a:p>
      </dgm:t>
    </dgm:pt>
    <dgm:pt modelId="{505115B8-C05D-482A-B1DE-86B451187818}" type="parTrans" cxnId="{E6B75D5D-10C1-4F31-A3A0-148F49E5260E}">
      <dgm:prSet/>
      <dgm:spPr/>
      <dgm:t>
        <a:bodyPr/>
        <a:lstStyle/>
        <a:p>
          <a:endParaRPr lang="en-US"/>
        </a:p>
      </dgm:t>
    </dgm:pt>
    <dgm:pt modelId="{1206A01E-E49A-4319-9B5F-29122E323BAB}" type="sibTrans" cxnId="{E6B75D5D-10C1-4F31-A3A0-148F49E5260E}">
      <dgm:prSet/>
      <dgm:spPr/>
      <dgm:t>
        <a:bodyPr/>
        <a:lstStyle/>
        <a:p>
          <a:endParaRPr lang="en-US"/>
        </a:p>
      </dgm:t>
    </dgm:pt>
    <dgm:pt modelId="{77DE81D0-48FC-42C3-AAD6-51CEAD337B63}">
      <dgm:prSet/>
      <dgm:spPr/>
      <dgm:t>
        <a:bodyPr/>
        <a:lstStyle/>
        <a:p>
          <a:pPr>
            <a:defRPr cap="all"/>
          </a:pPr>
          <a:r>
            <a:rPr lang="it-IT"/>
            <a:t>Questi dati ci dicono che con il solo ECG è difficile separare stati emotivi ad alta attivazione; servirebbero altri segnali, come l’attività elettrodermica, per discriminare meglio</a:t>
          </a:r>
          <a:endParaRPr lang="en-US"/>
        </a:p>
      </dgm:t>
    </dgm:pt>
    <dgm:pt modelId="{9CDB15A3-7365-45F4-8DBF-C0485B44ABE4}" type="parTrans" cxnId="{9E8F3757-7F22-49CF-888F-C6B3A2E65FE4}">
      <dgm:prSet/>
      <dgm:spPr/>
      <dgm:t>
        <a:bodyPr/>
        <a:lstStyle/>
        <a:p>
          <a:endParaRPr lang="en-US"/>
        </a:p>
      </dgm:t>
    </dgm:pt>
    <dgm:pt modelId="{54299ED0-98D6-4B17-8125-ECCB5AE6BE8D}" type="sibTrans" cxnId="{9E8F3757-7F22-49CF-888F-C6B3A2E65FE4}">
      <dgm:prSet/>
      <dgm:spPr/>
      <dgm:t>
        <a:bodyPr/>
        <a:lstStyle/>
        <a:p>
          <a:endParaRPr lang="en-US"/>
        </a:p>
      </dgm:t>
    </dgm:pt>
    <dgm:pt modelId="{221684D6-CB21-483C-9EB2-E66507FB1574}" type="pres">
      <dgm:prSet presAssocID="{32CD8790-F856-4861-BC42-C00188E4DBD3}" presName="root" presStyleCnt="0">
        <dgm:presLayoutVars>
          <dgm:dir/>
          <dgm:resizeHandles val="exact"/>
        </dgm:presLayoutVars>
      </dgm:prSet>
      <dgm:spPr/>
    </dgm:pt>
    <dgm:pt modelId="{C08AE754-E815-49D1-B213-AE8278336897}" type="pres">
      <dgm:prSet presAssocID="{3BF2A920-77E9-4C40-A075-18D5B5D3C752}" presName="compNode" presStyleCnt="0"/>
      <dgm:spPr/>
    </dgm:pt>
    <dgm:pt modelId="{246EEBC7-C0AA-42C6-B5BB-8B68538ADA0B}" type="pres">
      <dgm:prSet presAssocID="{3BF2A920-77E9-4C40-A075-18D5B5D3C75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47C0E9F-8643-41C8-A7F1-51BA7E3EA4FC}" type="pres">
      <dgm:prSet presAssocID="{3BF2A920-77E9-4C40-A075-18D5B5D3C75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tagne"/>
        </a:ext>
      </dgm:extLst>
    </dgm:pt>
    <dgm:pt modelId="{1F4B9208-4FB8-4F24-8552-F59C38DF8A7E}" type="pres">
      <dgm:prSet presAssocID="{3BF2A920-77E9-4C40-A075-18D5B5D3C752}" presName="spaceRect" presStyleCnt="0"/>
      <dgm:spPr/>
    </dgm:pt>
    <dgm:pt modelId="{3D89C9B0-C4EA-4EC5-80D0-FF611822CA34}" type="pres">
      <dgm:prSet presAssocID="{3BF2A920-77E9-4C40-A075-18D5B5D3C752}" presName="textRect" presStyleLbl="revTx" presStyleIdx="0" presStyleCnt="3">
        <dgm:presLayoutVars>
          <dgm:chMax val="1"/>
          <dgm:chPref val="1"/>
        </dgm:presLayoutVars>
      </dgm:prSet>
      <dgm:spPr/>
    </dgm:pt>
    <dgm:pt modelId="{CE31003F-7837-465A-A899-C015001659E0}" type="pres">
      <dgm:prSet presAssocID="{CA6F79C8-1FC1-4B54-9918-296F0DBE91FC}" presName="sibTrans" presStyleCnt="0"/>
      <dgm:spPr/>
    </dgm:pt>
    <dgm:pt modelId="{BF34FB11-5646-4EA3-8009-D714F2E94111}" type="pres">
      <dgm:prSet presAssocID="{416B9EEC-6191-4F93-83CE-3DC8EC9AF07C}" presName="compNode" presStyleCnt="0"/>
      <dgm:spPr/>
    </dgm:pt>
    <dgm:pt modelId="{91FBD382-B40B-4399-80A0-96D00B608912}" type="pres">
      <dgm:prSet presAssocID="{416B9EEC-6191-4F93-83CE-3DC8EC9AF07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103587F-281D-4A0E-96C7-435144103D22}" type="pres">
      <dgm:prSet presAssocID="{416B9EEC-6191-4F93-83CE-3DC8EC9AF07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B12226C7-DF54-4EF2-B918-21745022EB6B}" type="pres">
      <dgm:prSet presAssocID="{416B9EEC-6191-4F93-83CE-3DC8EC9AF07C}" presName="spaceRect" presStyleCnt="0"/>
      <dgm:spPr/>
    </dgm:pt>
    <dgm:pt modelId="{A8B04DE7-0B1E-4B8F-83ED-6CEE5EF350E7}" type="pres">
      <dgm:prSet presAssocID="{416B9EEC-6191-4F93-83CE-3DC8EC9AF07C}" presName="textRect" presStyleLbl="revTx" presStyleIdx="1" presStyleCnt="3">
        <dgm:presLayoutVars>
          <dgm:chMax val="1"/>
          <dgm:chPref val="1"/>
        </dgm:presLayoutVars>
      </dgm:prSet>
      <dgm:spPr/>
    </dgm:pt>
    <dgm:pt modelId="{2261DE4E-92FF-47B1-A090-0AB8F326164E}" type="pres">
      <dgm:prSet presAssocID="{1206A01E-E49A-4319-9B5F-29122E323BAB}" presName="sibTrans" presStyleCnt="0"/>
      <dgm:spPr/>
    </dgm:pt>
    <dgm:pt modelId="{8FF24C5E-447B-4A0A-AFF6-553472C708C5}" type="pres">
      <dgm:prSet presAssocID="{77DE81D0-48FC-42C3-AAD6-51CEAD337B63}" presName="compNode" presStyleCnt="0"/>
      <dgm:spPr/>
    </dgm:pt>
    <dgm:pt modelId="{26689C18-B9C8-4CF8-911A-0B161EAABA10}" type="pres">
      <dgm:prSet presAssocID="{77DE81D0-48FC-42C3-AAD6-51CEAD337B63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4E5ED45-2299-4620-B59C-0808D6D16BD5}" type="pres">
      <dgm:prSet presAssocID="{77DE81D0-48FC-42C3-AAD6-51CEAD337B6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6BC07BE7-9DD7-4B73-87C7-BBA4AA3EF616}" type="pres">
      <dgm:prSet presAssocID="{77DE81D0-48FC-42C3-AAD6-51CEAD337B63}" presName="spaceRect" presStyleCnt="0"/>
      <dgm:spPr/>
    </dgm:pt>
    <dgm:pt modelId="{621C65BF-22A6-41C1-9CA7-146189C0FC2E}" type="pres">
      <dgm:prSet presAssocID="{77DE81D0-48FC-42C3-AAD6-51CEAD337B6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1949732-5DA2-4D65-8CFA-46A7552E72A4}" type="presOf" srcId="{3BF2A920-77E9-4C40-A075-18D5B5D3C752}" destId="{3D89C9B0-C4EA-4EC5-80D0-FF611822CA34}" srcOrd="0" destOrd="0" presId="urn:microsoft.com/office/officeart/2018/5/layout/IconLeafLabelList"/>
    <dgm:cxn modelId="{E6B75D5D-10C1-4F31-A3A0-148F49E5260E}" srcId="{32CD8790-F856-4861-BC42-C00188E4DBD3}" destId="{416B9EEC-6191-4F93-83CE-3DC8EC9AF07C}" srcOrd="1" destOrd="0" parTransId="{505115B8-C05D-482A-B1DE-86B451187818}" sibTransId="{1206A01E-E49A-4319-9B5F-29122E323BAB}"/>
    <dgm:cxn modelId="{9E8F3757-7F22-49CF-888F-C6B3A2E65FE4}" srcId="{32CD8790-F856-4861-BC42-C00188E4DBD3}" destId="{77DE81D0-48FC-42C3-AAD6-51CEAD337B63}" srcOrd="2" destOrd="0" parTransId="{9CDB15A3-7365-45F4-8DBF-C0485B44ABE4}" sibTransId="{54299ED0-98D6-4B17-8125-ECCB5AE6BE8D}"/>
    <dgm:cxn modelId="{F6781D80-7E65-4E03-AE79-066FD3B6706F}" srcId="{32CD8790-F856-4861-BC42-C00188E4DBD3}" destId="{3BF2A920-77E9-4C40-A075-18D5B5D3C752}" srcOrd="0" destOrd="0" parTransId="{5EBAE4CC-E9A1-44FF-A38D-8AB9DBCC8128}" sibTransId="{CA6F79C8-1FC1-4B54-9918-296F0DBE91FC}"/>
    <dgm:cxn modelId="{A3586187-BBE0-4589-8EEE-28CD3445F0BA}" type="presOf" srcId="{416B9EEC-6191-4F93-83CE-3DC8EC9AF07C}" destId="{A8B04DE7-0B1E-4B8F-83ED-6CEE5EF350E7}" srcOrd="0" destOrd="0" presId="urn:microsoft.com/office/officeart/2018/5/layout/IconLeafLabelList"/>
    <dgm:cxn modelId="{FE61B2A4-56E9-4413-939A-767333CAF039}" type="presOf" srcId="{77DE81D0-48FC-42C3-AAD6-51CEAD337B63}" destId="{621C65BF-22A6-41C1-9CA7-146189C0FC2E}" srcOrd="0" destOrd="0" presId="urn:microsoft.com/office/officeart/2018/5/layout/IconLeafLabelList"/>
    <dgm:cxn modelId="{25168CDE-649A-4347-851D-2661FA3FE85E}" type="presOf" srcId="{32CD8790-F856-4861-BC42-C00188E4DBD3}" destId="{221684D6-CB21-483C-9EB2-E66507FB1574}" srcOrd="0" destOrd="0" presId="urn:microsoft.com/office/officeart/2018/5/layout/IconLeafLabelList"/>
    <dgm:cxn modelId="{F8583DD3-E28B-4668-AD5C-4FA81F5A759A}" type="presParOf" srcId="{221684D6-CB21-483C-9EB2-E66507FB1574}" destId="{C08AE754-E815-49D1-B213-AE8278336897}" srcOrd="0" destOrd="0" presId="urn:microsoft.com/office/officeart/2018/5/layout/IconLeafLabelList"/>
    <dgm:cxn modelId="{4911FC64-2778-4316-B214-902B1A9E3350}" type="presParOf" srcId="{C08AE754-E815-49D1-B213-AE8278336897}" destId="{246EEBC7-C0AA-42C6-B5BB-8B68538ADA0B}" srcOrd="0" destOrd="0" presId="urn:microsoft.com/office/officeart/2018/5/layout/IconLeafLabelList"/>
    <dgm:cxn modelId="{E446D4C6-9E68-44FA-B071-2BEFDD5DE9F5}" type="presParOf" srcId="{C08AE754-E815-49D1-B213-AE8278336897}" destId="{147C0E9F-8643-41C8-A7F1-51BA7E3EA4FC}" srcOrd="1" destOrd="0" presId="urn:microsoft.com/office/officeart/2018/5/layout/IconLeafLabelList"/>
    <dgm:cxn modelId="{1E7D86C7-3252-4449-A113-C3F0BCE4C359}" type="presParOf" srcId="{C08AE754-E815-49D1-B213-AE8278336897}" destId="{1F4B9208-4FB8-4F24-8552-F59C38DF8A7E}" srcOrd="2" destOrd="0" presId="urn:microsoft.com/office/officeart/2018/5/layout/IconLeafLabelList"/>
    <dgm:cxn modelId="{4862EDC7-8DCB-4D9E-BBE6-3F3B3E450EFE}" type="presParOf" srcId="{C08AE754-E815-49D1-B213-AE8278336897}" destId="{3D89C9B0-C4EA-4EC5-80D0-FF611822CA34}" srcOrd="3" destOrd="0" presId="urn:microsoft.com/office/officeart/2018/5/layout/IconLeafLabelList"/>
    <dgm:cxn modelId="{92857245-2C6E-4C43-88D8-B89020363BD0}" type="presParOf" srcId="{221684D6-CB21-483C-9EB2-E66507FB1574}" destId="{CE31003F-7837-465A-A899-C015001659E0}" srcOrd="1" destOrd="0" presId="urn:microsoft.com/office/officeart/2018/5/layout/IconLeafLabelList"/>
    <dgm:cxn modelId="{83971928-97FB-47E4-B431-EA25A12D2E03}" type="presParOf" srcId="{221684D6-CB21-483C-9EB2-E66507FB1574}" destId="{BF34FB11-5646-4EA3-8009-D714F2E94111}" srcOrd="2" destOrd="0" presId="urn:microsoft.com/office/officeart/2018/5/layout/IconLeafLabelList"/>
    <dgm:cxn modelId="{A4836E69-B63C-4AB6-BFF4-8BB89E0C770A}" type="presParOf" srcId="{BF34FB11-5646-4EA3-8009-D714F2E94111}" destId="{91FBD382-B40B-4399-80A0-96D00B608912}" srcOrd="0" destOrd="0" presId="urn:microsoft.com/office/officeart/2018/5/layout/IconLeafLabelList"/>
    <dgm:cxn modelId="{49E69CA1-9FA0-4D68-9937-F19C42DF4DBC}" type="presParOf" srcId="{BF34FB11-5646-4EA3-8009-D714F2E94111}" destId="{F103587F-281D-4A0E-96C7-435144103D22}" srcOrd="1" destOrd="0" presId="urn:microsoft.com/office/officeart/2018/5/layout/IconLeafLabelList"/>
    <dgm:cxn modelId="{A13E48F5-7DC0-4F84-AC34-6DA36C155D71}" type="presParOf" srcId="{BF34FB11-5646-4EA3-8009-D714F2E94111}" destId="{B12226C7-DF54-4EF2-B918-21745022EB6B}" srcOrd="2" destOrd="0" presId="urn:microsoft.com/office/officeart/2018/5/layout/IconLeafLabelList"/>
    <dgm:cxn modelId="{33D0BF90-C163-423B-94C9-48519126FD30}" type="presParOf" srcId="{BF34FB11-5646-4EA3-8009-D714F2E94111}" destId="{A8B04DE7-0B1E-4B8F-83ED-6CEE5EF350E7}" srcOrd="3" destOrd="0" presId="urn:microsoft.com/office/officeart/2018/5/layout/IconLeafLabelList"/>
    <dgm:cxn modelId="{50D27814-E293-46A0-8AC9-4D0E71F38235}" type="presParOf" srcId="{221684D6-CB21-483C-9EB2-E66507FB1574}" destId="{2261DE4E-92FF-47B1-A090-0AB8F326164E}" srcOrd="3" destOrd="0" presId="urn:microsoft.com/office/officeart/2018/5/layout/IconLeafLabelList"/>
    <dgm:cxn modelId="{60FA1118-0624-4668-9AEE-9F76C740F80C}" type="presParOf" srcId="{221684D6-CB21-483C-9EB2-E66507FB1574}" destId="{8FF24C5E-447B-4A0A-AFF6-553472C708C5}" srcOrd="4" destOrd="0" presId="urn:microsoft.com/office/officeart/2018/5/layout/IconLeafLabelList"/>
    <dgm:cxn modelId="{D1203D50-CF61-433B-BB24-0138942C0590}" type="presParOf" srcId="{8FF24C5E-447B-4A0A-AFF6-553472C708C5}" destId="{26689C18-B9C8-4CF8-911A-0B161EAABA10}" srcOrd="0" destOrd="0" presId="urn:microsoft.com/office/officeart/2018/5/layout/IconLeafLabelList"/>
    <dgm:cxn modelId="{DE5D28B8-65F9-4D7A-B62D-32AB154FF697}" type="presParOf" srcId="{8FF24C5E-447B-4A0A-AFF6-553472C708C5}" destId="{84E5ED45-2299-4620-B59C-0808D6D16BD5}" srcOrd="1" destOrd="0" presId="urn:microsoft.com/office/officeart/2018/5/layout/IconLeafLabelList"/>
    <dgm:cxn modelId="{9070E11B-2EF2-439C-B448-0EF8AFD8EE94}" type="presParOf" srcId="{8FF24C5E-447B-4A0A-AFF6-553472C708C5}" destId="{6BC07BE7-9DD7-4B73-87C7-BBA4AA3EF616}" srcOrd="2" destOrd="0" presId="urn:microsoft.com/office/officeart/2018/5/layout/IconLeafLabelList"/>
    <dgm:cxn modelId="{176EB409-BFF2-4CFC-8F73-8F17CDE9C48A}" type="presParOf" srcId="{8FF24C5E-447B-4A0A-AFF6-553472C708C5}" destId="{621C65BF-22A6-41C1-9CA7-146189C0FC2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EA1304-C514-425B-B45F-61B5BE77028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9DFE90A-E707-4DCD-BF2F-B74B6D74FDDB}">
      <dgm:prSet/>
      <dgm:spPr/>
      <dgm:t>
        <a:bodyPr/>
        <a:lstStyle/>
        <a:p>
          <a:r>
            <a:rPr lang="it-IT"/>
            <a:t>In entrambi i casi, il Random Forest è il classificatore più robusto, e le feature selezionate sono quasi le stesse.</a:t>
          </a:r>
          <a:endParaRPr lang="en-US"/>
        </a:p>
      </dgm:t>
    </dgm:pt>
    <dgm:pt modelId="{DBB06AF5-1045-4E4F-9091-BAF48162545A}" type="parTrans" cxnId="{99A61368-6199-4664-889B-3173338195E9}">
      <dgm:prSet/>
      <dgm:spPr/>
      <dgm:t>
        <a:bodyPr/>
        <a:lstStyle/>
        <a:p>
          <a:endParaRPr lang="en-US"/>
        </a:p>
      </dgm:t>
    </dgm:pt>
    <dgm:pt modelId="{CB898FD2-CC87-426A-A060-09BB6B36C69B}" type="sibTrans" cxnId="{99A61368-6199-4664-889B-3173338195E9}">
      <dgm:prSet/>
      <dgm:spPr/>
      <dgm:t>
        <a:bodyPr/>
        <a:lstStyle/>
        <a:p>
          <a:endParaRPr lang="en-US"/>
        </a:p>
      </dgm:t>
    </dgm:pt>
    <dgm:pt modelId="{BFDA1BC3-8B1C-4ACA-ADF4-3B428DDF42AB}">
      <dgm:prSet/>
      <dgm:spPr/>
      <dgm:t>
        <a:bodyPr/>
        <a:lstStyle/>
        <a:p>
          <a:r>
            <a:rPr lang="it-IT"/>
            <a:t>L’accuratezza binaria risulta essere più bassa della loro, però il compito è diverso e il dataset ha più variabilità.</a:t>
          </a:r>
          <a:endParaRPr lang="en-US"/>
        </a:p>
      </dgm:t>
    </dgm:pt>
    <dgm:pt modelId="{408B99D4-66A1-43B3-B93D-FA37EE40059C}" type="parTrans" cxnId="{39236194-2DC9-493A-9D1E-B47CAD15C1FD}">
      <dgm:prSet/>
      <dgm:spPr/>
      <dgm:t>
        <a:bodyPr/>
        <a:lstStyle/>
        <a:p>
          <a:endParaRPr lang="en-US"/>
        </a:p>
      </dgm:t>
    </dgm:pt>
    <dgm:pt modelId="{E699B3CE-C0DC-4874-BF9A-2CC82D91A70F}" type="sibTrans" cxnId="{39236194-2DC9-493A-9D1E-B47CAD15C1FD}">
      <dgm:prSet/>
      <dgm:spPr/>
      <dgm:t>
        <a:bodyPr/>
        <a:lstStyle/>
        <a:p>
          <a:endParaRPr lang="en-US"/>
        </a:p>
      </dgm:t>
    </dgm:pt>
    <dgm:pt modelId="{07696756-4B99-46E4-9A72-57CEB287D175}">
      <dgm:prSet/>
      <dgm:spPr/>
      <dgm:t>
        <a:bodyPr/>
        <a:lstStyle/>
        <a:p>
          <a:r>
            <a:rPr lang="it-IT"/>
            <a:t>La PCA ha un effetto analogo, garantendo un aiuto nella multi-classe</a:t>
          </a:r>
          <a:endParaRPr lang="en-US"/>
        </a:p>
      </dgm:t>
    </dgm:pt>
    <dgm:pt modelId="{8E6D28FF-C55C-47E1-999C-E4989FBA24FB}" type="parTrans" cxnId="{C98B00B1-E774-4483-91F5-9DFE0F720B0D}">
      <dgm:prSet/>
      <dgm:spPr/>
      <dgm:t>
        <a:bodyPr/>
        <a:lstStyle/>
        <a:p>
          <a:endParaRPr lang="en-US"/>
        </a:p>
      </dgm:t>
    </dgm:pt>
    <dgm:pt modelId="{8E2F39A8-DDD5-4ED5-9A19-597D855216DD}" type="sibTrans" cxnId="{C98B00B1-E774-4483-91F5-9DFE0F720B0D}">
      <dgm:prSet/>
      <dgm:spPr/>
      <dgm:t>
        <a:bodyPr/>
        <a:lstStyle/>
        <a:p>
          <a:endParaRPr lang="en-US"/>
        </a:p>
      </dgm:t>
    </dgm:pt>
    <dgm:pt modelId="{0E3CBBB0-D13F-4298-909F-12F62D01F386}">
      <dgm:prSet/>
      <dgm:spPr/>
      <dgm:t>
        <a:bodyPr/>
        <a:lstStyle/>
        <a:p>
          <a:r>
            <a:rPr lang="it-IT"/>
            <a:t>Ciò dimostra che la metodologia non è legato allo specifico esperimento di guida, ma può essere generalizzata.</a:t>
          </a:r>
          <a:endParaRPr lang="en-US"/>
        </a:p>
      </dgm:t>
    </dgm:pt>
    <dgm:pt modelId="{01E661DA-AC9D-488A-9913-39246DFCE9DB}" type="parTrans" cxnId="{88169A26-9E61-4403-AB15-08E8155CBC73}">
      <dgm:prSet/>
      <dgm:spPr/>
      <dgm:t>
        <a:bodyPr/>
        <a:lstStyle/>
        <a:p>
          <a:endParaRPr lang="en-US"/>
        </a:p>
      </dgm:t>
    </dgm:pt>
    <dgm:pt modelId="{C9583B62-B2FE-4058-B21D-B65D5B2E9055}" type="sibTrans" cxnId="{88169A26-9E61-4403-AB15-08E8155CBC73}">
      <dgm:prSet/>
      <dgm:spPr/>
      <dgm:t>
        <a:bodyPr/>
        <a:lstStyle/>
        <a:p>
          <a:endParaRPr lang="en-US"/>
        </a:p>
      </dgm:t>
    </dgm:pt>
    <dgm:pt modelId="{05F632CA-8226-4000-B46C-F3758C0AC41B}">
      <dgm:prSet/>
      <dgm:spPr/>
      <dgm:t>
        <a:bodyPr/>
        <a:lstStyle/>
        <a:p>
          <a:r>
            <a:rPr lang="it-IT"/>
            <a:t>Un’altra differenza sta nella dimensioni del campione, poiché nel testo vengono presi come riferimento 10 individui, mentre nel nostro caso sono 15.</a:t>
          </a:r>
          <a:endParaRPr lang="en-US"/>
        </a:p>
      </dgm:t>
    </dgm:pt>
    <dgm:pt modelId="{AD108100-E71E-43B9-AEDF-71EFCC9FD8F9}" type="parTrans" cxnId="{58A62875-9417-4C2F-804B-7B6006B52AF0}">
      <dgm:prSet/>
      <dgm:spPr/>
      <dgm:t>
        <a:bodyPr/>
        <a:lstStyle/>
        <a:p>
          <a:endParaRPr lang="en-US"/>
        </a:p>
      </dgm:t>
    </dgm:pt>
    <dgm:pt modelId="{68033BFA-D0D2-4D20-9B0C-ED8BD1E9893B}" type="sibTrans" cxnId="{58A62875-9417-4C2F-804B-7B6006B52AF0}">
      <dgm:prSet/>
      <dgm:spPr/>
      <dgm:t>
        <a:bodyPr/>
        <a:lstStyle/>
        <a:p>
          <a:endParaRPr lang="en-US"/>
        </a:p>
      </dgm:t>
    </dgm:pt>
    <dgm:pt modelId="{07C6846D-EC80-495A-BC85-71FD83FF7D7C}" type="pres">
      <dgm:prSet presAssocID="{AEEA1304-C514-425B-B45F-61B5BE770288}" presName="root" presStyleCnt="0">
        <dgm:presLayoutVars>
          <dgm:dir/>
          <dgm:resizeHandles val="exact"/>
        </dgm:presLayoutVars>
      </dgm:prSet>
      <dgm:spPr/>
    </dgm:pt>
    <dgm:pt modelId="{38D13C69-36EE-4EE6-84A1-F3C63E146DB8}" type="pres">
      <dgm:prSet presAssocID="{AEEA1304-C514-425B-B45F-61B5BE770288}" presName="container" presStyleCnt="0">
        <dgm:presLayoutVars>
          <dgm:dir/>
          <dgm:resizeHandles val="exact"/>
        </dgm:presLayoutVars>
      </dgm:prSet>
      <dgm:spPr/>
    </dgm:pt>
    <dgm:pt modelId="{9DED5A14-8377-44D3-8218-560BABE48F47}" type="pres">
      <dgm:prSet presAssocID="{39DFE90A-E707-4DCD-BF2F-B74B6D74FDDB}" presName="compNode" presStyleCnt="0"/>
      <dgm:spPr/>
    </dgm:pt>
    <dgm:pt modelId="{D98854FB-63A1-4BA9-ADB1-31AE677D0148}" type="pres">
      <dgm:prSet presAssocID="{39DFE90A-E707-4DCD-BF2F-B74B6D74FDDB}" presName="iconBgRect" presStyleLbl="bgShp" presStyleIdx="0" presStyleCnt="5"/>
      <dgm:spPr/>
    </dgm:pt>
    <dgm:pt modelId="{642434EA-353F-43C4-AB56-40C6A73DB32E}" type="pres">
      <dgm:prSet presAssocID="{39DFE90A-E707-4DCD-BF2F-B74B6D74FDD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8CB415C2-9C4C-4A44-BA62-0647505B1F2A}" type="pres">
      <dgm:prSet presAssocID="{39DFE90A-E707-4DCD-BF2F-B74B6D74FDDB}" presName="spaceRect" presStyleCnt="0"/>
      <dgm:spPr/>
    </dgm:pt>
    <dgm:pt modelId="{25064BD6-8C04-4AA9-9A2D-EBE3D8B2CFD6}" type="pres">
      <dgm:prSet presAssocID="{39DFE90A-E707-4DCD-BF2F-B74B6D74FDDB}" presName="textRect" presStyleLbl="revTx" presStyleIdx="0" presStyleCnt="5">
        <dgm:presLayoutVars>
          <dgm:chMax val="1"/>
          <dgm:chPref val="1"/>
        </dgm:presLayoutVars>
      </dgm:prSet>
      <dgm:spPr/>
    </dgm:pt>
    <dgm:pt modelId="{FFBF7F10-9D7D-437C-B58B-64AAB525830C}" type="pres">
      <dgm:prSet presAssocID="{CB898FD2-CC87-426A-A060-09BB6B36C69B}" presName="sibTrans" presStyleLbl="sibTrans2D1" presStyleIdx="0" presStyleCnt="0"/>
      <dgm:spPr/>
    </dgm:pt>
    <dgm:pt modelId="{A147A8B2-7C91-48B5-B3C7-574A5D4FBE06}" type="pres">
      <dgm:prSet presAssocID="{BFDA1BC3-8B1C-4ACA-ADF4-3B428DDF42AB}" presName="compNode" presStyleCnt="0"/>
      <dgm:spPr/>
    </dgm:pt>
    <dgm:pt modelId="{710A129B-AF7A-4704-84D0-80A03013780E}" type="pres">
      <dgm:prSet presAssocID="{BFDA1BC3-8B1C-4ACA-ADF4-3B428DDF42AB}" presName="iconBgRect" presStyleLbl="bgShp" presStyleIdx="1" presStyleCnt="5"/>
      <dgm:spPr/>
    </dgm:pt>
    <dgm:pt modelId="{88C73089-9315-4F85-AAB5-7A1A4447583B}" type="pres">
      <dgm:prSet presAssocID="{BFDA1BC3-8B1C-4ACA-ADF4-3B428DDF42A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he"/>
        </a:ext>
      </dgm:extLst>
    </dgm:pt>
    <dgm:pt modelId="{3672C4CB-3A65-402B-83E1-2B89DF6C8E49}" type="pres">
      <dgm:prSet presAssocID="{BFDA1BC3-8B1C-4ACA-ADF4-3B428DDF42AB}" presName="spaceRect" presStyleCnt="0"/>
      <dgm:spPr/>
    </dgm:pt>
    <dgm:pt modelId="{6B20315C-CFCB-4E3F-9B42-023EEA46FE9B}" type="pres">
      <dgm:prSet presAssocID="{BFDA1BC3-8B1C-4ACA-ADF4-3B428DDF42AB}" presName="textRect" presStyleLbl="revTx" presStyleIdx="1" presStyleCnt="5">
        <dgm:presLayoutVars>
          <dgm:chMax val="1"/>
          <dgm:chPref val="1"/>
        </dgm:presLayoutVars>
      </dgm:prSet>
      <dgm:spPr/>
    </dgm:pt>
    <dgm:pt modelId="{97376782-1472-4AA0-96DE-69C72DBF33EB}" type="pres">
      <dgm:prSet presAssocID="{E699B3CE-C0DC-4874-BF9A-2CC82D91A70F}" presName="sibTrans" presStyleLbl="sibTrans2D1" presStyleIdx="0" presStyleCnt="0"/>
      <dgm:spPr/>
    </dgm:pt>
    <dgm:pt modelId="{C9E0324C-7C75-49FC-A96C-21CF9E6A6138}" type="pres">
      <dgm:prSet presAssocID="{07696756-4B99-46E4-9A72-57CEB287D175}" presName="compNode" presStyleCnt="0"/>
      <dgm:spPr/>
    </dgm:pt>
    <dgm:pt modelId="{4E8C4668-74FE-49E4-8E6C-3E35F2B8827C}" type="pres">
      <dgm:prSet presAssocID="{07696756-4B99-46E4-9A72-57CEB287D175}" presName="iconBgRect" presStyleLbl="bgShp" presStyleIdx="2" presStyleCnt="5"/>
      <dgm:spPr/>
    </dgm:pt>
    <dgm:pt modelId="{60094178-F006-4332-BF50-6729840724BB}" type="pres">
      <dgm:prSet presAssocID="{07696756-4B99-46E4-9A72-57CEB287D17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ttore"/>
        </a:ext>
      </dgm:extLst>
    </dgm:pt>
    <dgm:pt modelId="{1EAEA260-4DA9-4278-A452-2E8AAC042526}" type="pres">
      <dgm:prSet presAssocID="{07696756-4B99-46E4-9A72-57CEB287D175}" presName="spaceRect" presStyleCnt="0"/>
      <dgm:spPr/>
    </dgm:pt>
    <dgm:pt modelId="{4D485D3F-FB8C-47ED-9388-9DC5021617AD}" type="pres">
      <dgm:prSet presAssocID="{07696756-4B99-46E4-9A72-57CEB287D175}" presName="textRect" presStyleLbl="revTx" presStyleIdx="2" presStyleCnt="5">
        <dgm:presLayoutVars>
          <dgm:chMax val="1"/>
          <dgm:chPref val="1"/>
        </dgm:presLayoutVars>
      </dgm:prSet>
      <dgm:spPr/>
    </dgm:pt>
    <dgm:pt modelId="{8052F7A3-5DE2-4FAB-8EFA-0A494ACEBE0B}" type="pres">
      <dgm:prSet presAssocID="{8E2F39A8-DDD5-4ED5-9A19-597D855216DD}" presName="sibTrans" presStyleLbl="sibTrans2D1" presStyleIdx="0" presStyleCnt="0"/>
      <dgm:spPr/>
    </dgm:pt>
    <dgm:pt modelId="{A411128F-57A1-48D1-94D8-977E75246553}" type="pres">
      <dgm:prSet presAssocID="{0E3CBBB0-D13F-4298-909F-12F62D01F386}" presName="compNode" presStyleCnt="0"/>
      <dgm:spPr/>
    </dgm:pt>
    <dgm:pt modelId="{D9150A77-0206-48F2-A65B-8AF3DF9EF902}" type="pres">
      <dgm:prSet presAssocID="{0E3CBBB0-D13F-4298-909F-12F62D01F386}" presName="iconBgRect" presStyleLbl="bgShp" presStyleIdx="3" presStyleCnt="5"/>
      <dgm:spPr/>
    </dgm:pt>
    <dgm:pt modelId="{BC036C1A-4B42-4906-9006-0309125E6FB1}" type="pres">
      <dgm:prSet presAssocID="{0E3CBBB0-D13F-4298-909F-12F62D01F38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C6CD1944-987D-4AF2-B35A-F2E33DCE8CB4}" type="pres">
      <dgm:prSet presAssocID="{0E3CBBB0-D13F-4298-909F-12F62D01F386}" presName="spaceRect" presStyleCnt="0"/>
      <dgm:spPr/>
    </dgm:pt>
    <dgm:pt modelId="{2527E807-A9C8-4331-8511-FBDD804F0A95}" type="pres">
      <dgm:prSet presAssocID="{0E3CBBB0-D13F-4298-909F-12F62D01F386}" presName="textRect" presStyleLbl="revTx" presStyleIdx="3" presStyleCnt="5">
        <dgm:presLayoutVars>
          <dgm:chMax val="1"/>
          <dgm:chPref val="1"/>
        </dgm:presLayoutVars>
      </dgm:prSet>
      <dgm:spPr/>
    </dgm:pt>
    <dgm:pt modelId="{7371CE0E-ED73-43C0-9A98-DABB40F7C944}" type="pres">
      <dgm:prSet presAssocID="{C9583B62-B2FE-4058-B21D-B65D5B2E9055}" presName="sibTrans" presStyleLbl="sibTrans2D1" presStyleIdx="0" presStyleCnt="0"/>
      <dgm:spPr/>
    </dgm:pt>
    <dgm:pt modelId="{C7AD674C-9D05-4932-AE9E-ED2C90CBF9AC}" type="pres">
      <dgm:prSet presAssocID="{05F632CA-8226-4000-B46C-F3758C0AC41B}" presName="compNode" presStyleCnt="0"/>
      <dgm:spPr/>
    </dgm:pt>
    <dgm:pt modelId="{004A3D30-966F-4ED7-9534-4C94725DCE34}" type="pres">
      <dgm:prSet presAssocID="{05F632CA-8226-4000-B46C-F3758C0AC41B}" presName="iconBgRect" presStyleLbl="bgShp" presStyleIdx="4" presStyleCnt="5"/>
      <dgm:spPr/>
    </dgm:pt>
    <dgm:pt modelId="{42D39751-13B0-4C1D-B54E-F023949F281D}" type="pres">
      <dgm:prSet presAssocID="{05F632CA-8226-4000-B46C-F3758C0AC41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po"/>
        </a:ext>
      </dgm:extLst>
    </dgm:pt>
    <dgm:pt modelId="{F7F71344-EBA2-4C36-A8E4-0F3A79FCAE98}" type="pres">
      <dgm:prSet presAssocID="{05F632CA-8226-4000-B46C-F3758C0AC41B}" presName="spaceRect" presStyleCnt="0"/>
      <dgm:spPr/>
    </dgm:pt>
    <dgm:pt modelId="{80BEE858-6925-41F8-B13F-117A3793F298}" type="pres">
      <dgm:prSet presAssocID="{05F632CA-8226-4000-B46C-F3758C0AC41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CB69425-5C18-4821-B16F-F38812AA40A3}" type="presOf" srcId="{BFDA1BC3-8B1C-4ACA-ADF4-3B428DDF42AB}" destId="{6B20315C-CFCB-4E3F-9B42-023EEA46FE9B}" srcOrd="0" destOrd="0" presId="urn:microsoft.com/office/officeart/2018/2/layout/IconCircleList"/>
    <dgm:cxn modelId="{88169A26-9E61-4403-AB15-08E8155CBC73}" srcId="{AEEA1304-C514-425B-B45F-61B5BE770288}" destId="{0E3CBBB0-D13F-4298-909F-12F62D01F386}" srcOrd="3" destOrd="0" parTransId="{01E661DA-AC9D-488A-9913-39246DFCE9DB}" sibTransId="{C9583B62-B2FE-4058-B21D-B65D5B2E9055}"/>
    <dgm:cxn modelId="{3772A33F-426F-4D57-862A-0D1054BE5800}" type="presOf" srcId="{E699B3CE-C0DC-4874-BF9A-2CC82D91A70F}" destId="{97376782-1472-4AA0-96DE-69C72DBF33EB}" srcOrd="0" destOrd="0" presId="urn:microsoft.com/office/officeart/2018/2/layout/IconCircleList"/>
    <dgm:cxn modelId="{99A61368-6199-4664-889B-3173338195E9}" srcId="{AEEA1304-C514-425B-B45F-61B5BE770288}" destId="{39DFE90A-E707-4DCD-BF2F-B74B6D74FDDB}" srcOrd="0" destOrd="0" parTransId="{DBB06AF5-1045-4E4F-9091-BAF48162545A}" sibTransId="{CB898FD2-CC87-426A-A060-09BB6B36C69B}"/>
    <dgm:cxn modelId="{86076C54-CF41-40F8-8A93-19EA2B16B679}" type="presOf" srcId="{05F632CA-8226-4000-B46C-F3758C0AC41B}" destId="{80BEE858-6925-41F8-B13F-117A3793F298}" srcOrd="0" destOrd="0" presId="urn:microsoft.com/office/officeart/2018/2/layout/IconCircleList"/>
    <dgm:cxn modelId="{58A62875-9417-4C2F-804B-7B6006B52AF0}" srcId="{AEEA1304-C514-425B-B45F-61B5BE770288}" destId="{05F632CA-8226-4000-B46C-F3758C0AC41B}" srcOrd="4" destOrd="0" parTransId="{AD108100-E71E-43B9-AEDF-71EFCC9FD8F9}" sibTransId="{68033BFA-D0D2-4D20-9B0C-ED8BD1E9893B}"/>
    <dgm:cxn modelId="{DD1AC158-3E99-4C53-B089-14DF4580E6CA}" type="presOf" srcId="{0E3CBBB0-D13F-4298-909F-12F62D01F386}" destId="{2527E807-A9C8-4331-8511-FBDD804F0A95}" srcOrd="0" destOrd="0" presId="urn:microsoft.com/office/officeart/2018/2/layout/IconCircleList"/>
    <dgm:cxn modelId="{2F6C1659-A8B3-4062-8D29-8BE3D84DE186}" type="presOf" srcId="{39DFE90A-E707-4DCD-BF2F-B74B6D74FDDB}" destId="{25064BD6-8C04-4AA9-9A2D-EBE3D8B2CFD6}" srcOrd="0" destOrd="0" presId="urn:microsoft.com/office/officeart/2018/2/layout/IconCircleList"/>
    <dgm:cxn modelId="{C9C78F93-2FA0-4E3D-A976-89C6AFAD115A}" type="presOf" srcId="{07696756-4B99-46E4-9A72-57CEB287D175}" destId="{4D485D3F-FB8C-47ED-9388-9DC5021617AD}" srcOrd="0" destOrd="0" presId="urn:microsoft.com/office/officeart/2018/2/layout/IconCircleList"/>
    <dgm:cxn modelId="{39236194-2DC9-493A-9D1E-B47CAD15C1FD}" srcId="{AEEA1304-C514-425B-B45F-61B5BE770288}" destId="{BFDA1BC3-8B1C-4ACA-ADF4-3B428DDF42AB}" srcOrd="1" destOrd="0" parTransId="{408B99D4-66A1-43B3-B93D-FA37EE40059C}" sibTransId="{E699B3CE-C0DC-4874-BF9A-2CC82D91A70F}"/>
    <dgm:cxn modelId="{C381EE99-2EFA-4F8E-8AE2-8D49E3D65083}" type="presOf" srcId="{CB898FD2-CC87-426A-A060-09BB6B36C69B}" destId="{FFBF7F10-9D7D-437C-B58B-64AAB525830C}" srcOrd="0" destOrd="0" presId="urn:microsoft.com/office/officeart/2018/2/layout/IconCircleList"/>
    <dgm:cxn modelId="{C98B00B1-E774-4483-91F5-9DFE0F720B0D}" srcId="{AEEA1304-C514-425B-B45F-61B5BE770288}" destId="{07696756-4B99-46E4-9A72-57CEB287D175}" srcOrd="2" destOrd="0" parTransId="{8E6D28FF-C55C-47E1-999C-E4989FBA24FB}" sibTransId="{8E2F39A8-DDD5-4ED5-9A19-597D855216DD}"/>
    <dgm:cxn modelId="{5181B0EE-3E82-44C8-A089-6F55F0008F53}" type="presOf" srcId="{AEEA1304-C514-425B-B45F-61B5BE770288}" destId="{07C6846D-EC80-495A-BC85-71FD83FF7D7C}" srcOrd="0" destOrd="0" presId="urn:microsoft.com/office/officeart/2018/2/layout/IconCircleList"/>
    <dgm:cxn modelId="{19C9B1EF-660F-41C6-A665-53A19799682F}" type="presOf" srcId="{8E2F39A8-DDD5-4ED5-9A19-597D855216DD}" destId="{8052F7A3-5DE2-4FAB-8EFA-0A494ACEBE0B}" srcOrd="0" destOrd="0" presId="urn:microsoft.com/office/officeart/2018/2/layout/IconCircleList"/>
    <dgm:cxn modelId="{F35A10FB-FADD-4D30-817E-264FD5445A0A}" type="presOf" srcId="{C9583B62-B2FE-4058-B21D-B65D5B2E9055}" destId="{7371CE0E-ED73-43C0-9A98-DABB40F7C944}" srcOrd="0" destOrd="0" presId="urn:microsoft.com/office/officeart/2018/2/layout/IconCircleList"/>
    <dgm:cxn modelId="{3F867249-D55E-4E60-8623-E2C258B451B6}" type="presParOf" srcId="{07C6846D-EC80-495A-BC85-71FD83FF7D7C}" destId="{38D13C69-36EE-4EE6-84A1-F3C63E146DB8}" srcOrd="0" destOrd="0" presId="urn:microsoft.com/office/officeart/2018/2/layout/IconCircleList"/>
    <dgm:cxn modelId="{E1C443C6-80D4-43E2-8C4E-C5F97BD5E759}" type="presParOf" srcId="{38D13C69-36EE-4EE6-84A1-F3C63E146DB8}" destId="{9DED5A14-8377-44D3-8218-560BABE48F47}" srcOrd="0" destOrd="0" presId="urn:microsoft.com/office/officeart/2018/2/layout/IconCircleList"/>
    <dgm:cxn modelId="{2CDDD9F4-8DB7-40B5-A0CD-3D42A45ABD36}" type="presParOf" srcId="{9DED5A14-8377-44D3-8218-560BABE48F47}" destId="{D98854FB-63A1-4BA9-ADB1-31AE677D0148}" srcOrd="0" destOrd="0" presId="urn:microsoft.com/office/officeart/2018/2/layout/IconCircleList"/>
    <dgm:cxn modelId="{E32D6494-E738-4721-B616-8845920B26ED}" type="presParOf" srcId="{9DED5A14-8377-44D3-8218-560BABE48F47}" destId="{642434EA-353F-43C4-AB56-40C6A73DB32E}" srcOrd="1" destOrd="0" presId="urn:microsoft.com/office/officeart/2018/2/layout/IconCircleList"/>
    <dgm:cxn modelId="{91107449-BFCA-4980-92F6-D840D1A37258}" type="presParOf" srcId="{9DED5A14-8377-44D3-8218-560BABE48F47}" destId="{8CB415C2-9C4C-4A44-BA62-0647505B1F2A}" srcOrd="2" destOrd="0" presId="urn:microsoft.com/office/officeart/2018/2/layout/IconCircleList"/>
    <dgm:cxn modelId="{9C659487-1161-4C3B-BA80-41D3EDFC7FB1}" type="presParOf" srcId="{9DED5A14-8377-44D3-8218-560BABE48F47}" destId="{25064BD6-8C04-4AA9-9A2D-EBE3D8B2CFD6}" srcOrd="3" destOrd="0" presId="urn:microsoft.com/office/officeart/2018/2/layout/IconCircleList"/>
    <dgm:cxn modelId="{05A51FE8-2BED-4511-B9B2-3F86E5DC4395}" type="presParOf" srcId="{38D13C69-36EE-4EE6-84A1-F3C63E146DB8}" destId="{FFBF7F10-9D7D-437C-B58B-64AAB525830C}" srcOrd="1" destOrd="0" presId="urn:microsoft.com/office/officeart/2018/2/layout/IconCircleList"/>
    <dgm:cxn modelId="{695BD0FF-B6CA-4666-9670-D5233328CDB1}" type="presParOf" srcId="{38D13C69-36EE-4EE6-84A1-F3C63E146DB8}" destId="{A147A8B2-7C91-48B5-B3C7-574A5D4FBE06}" srcOrd="2" destOrd="0" presId="urn:microsoft.com/office/officeart/2018/2/layout/IconCircleList"/>
    <dgm:cxn modelId="{6B87C217-F78C-46A6-8578-6301E640D3BA}" type="presParOf" srcId="{A147A8B2-7C91-48B5-B3C7-574A5D4FBE06}" destId="{710A129B-AF7A-4704-84D0-80A03013780E}" srcOrd="0" destOrd="0" presId="urn:microsoft.com/office/officeart/2018/2/layout/IconCircleList"/>
    <dgm:cxn modelId="{44C34967-528E-4B27-AAE0-6E038CF0623A}" type="presParOf" srcId="{A147A8B2-7C91-48B5-B3C7-574A5D4FBE06}" destId="{88C73089-9315-4F85-AAB5-7A1A4447583B}" srcOrd="1" destOrd="0" presId="urn:microsoft.com/office/officeart/2018/2/layout/IconCircleList"/>
    <dgm:cxn modelId="{1F46BB53-4D7F-455B-9B71-6C23A2700B57}" type="presParOf" srcId="{A147A8B2-7C91-48B5-B3C7-574A5D4FBE06}" destId="{3672C4CB-3A65-402B-83E1-2B89DF6C8E49}" srcOrd="2" destOrd="0" presId="urn:microsoft.com/office/officeart/2018/2/layout/IconCircleList"/>
    <dgm:cxn modelId="{B5094003-BD67-4123-9546-C1DCD8DE28F4}" type="presParOf" srcId="{A147A8B2-7C91-48B5-B3C7-574A5D4FBE06}" destId="{6B20315C-CFCB-4E3F-9B42-023EEA46FE9B}" srcOrd="3" destOrd="0" presId="urn:microsoft.com/office/officeart/2018/2/layout/IconCircleList"/>
    <dgm:cxn modelId="{CDB3B83E-6E0E-4B33-A38B-7E89344F9B0A}" type="presParOf" srcId="{38D13C69-36EE-4EE6-84A1-F3C63E146DB8}" destId="{97376782-1472-4AA0-96DE-69C72DBF33EB}" srcOrd="3" destOrd="0" presId="urn:microsoft.com/office/officeart/2018/2/layout/IconCircleList"/>
    <dgm:cxn modelId="{0D139C02-E937-4624-838F-957617D1B934}" type="presParOf" srcId="{38D13C69-36EE-4EE6-84A1-F3C63E146DB8}" destId="{C9E0324C-7C75-49FC-A96C-21CF9E6A6138}" srcOrd="4" destOrd="0" presId="urn:microsoft.com/office/officeart/2018/2/layout/IconCircleList"/>
    <dgm:cxn modelId="{4BA575F1-9C21-49DA-B2DE-3A72386A3369}" type="presParOf" srcId="{C9E0324C-7C75-49FC-A96C-21CF9E6A6138}" destId="{4E8C4668-74FE-49E4-8E6C-3E35F2B8827C}" srcOrd="0" destOrd="0" presId="urn:microsoft.com/office/officeart/2018/2/layout/IconCircleList"/>
    <dgm:cxn modelId="{B0763DB4-D9E6-4E4C-B92C-AB2ABEF3FDCB}" type="presParOf" srcId="{C9E0324C-7C75-49FC-A96C-21CF9E6A6138}" destId="{60094178-F006-4332-BF50-6729840724BB}" srcOrd="1" destOrd="0" presId="urn:microsoft.com/office/officeart/2018/2/layout/IconCircleList"/>
    <dgm:cxn modelId="{F3479CB8-5A8C-4DCF-B543-D235447141E0}" type="presParOf" srcId="{C9E0324C-7C75-49FC-A96C-21CF9E6A6138}" destId="{1EAEA260-4DA9-4278-A452-2E8AAC042526}" srcOrd="2" destOrd="0" presId="urn:microsoft.com/office/officeart/2018/2/layout/IconCircleList"/>
    <dgm:cxn modelId="{E9408CC3-A736-459F-A737-998B2B22DD4E}" type="presParOf" srcId="{C9E0324C-7C75-49FC-A96C-21CF9E6A6138}" destId="{4D485D3F-FB8C-47ED-9388-9DC5021617AD}" srcOrd="3" destOrd="0" presId="urn:microsoft.com/office/officeart/2018/2/layout/IconCircleList"/>
    <dgm:cxn modelId="{72F67232-F05C-4A9C-A40D-DF2C03E25080}" type="presParOf" srcId="{38D13C69-36EE-4EE6-84A1-F3C63E146DB8}" destId="{8052F7A3-5DE2-4FAB-8EFA-0A494ACEBE0B}" srcOrd="5" destOrd="0" presId="urn:microsoft.com/office/officeart/2018/2/layout/IconCircleList"/>
    <dgm:cxn modelId="{32CECED0-657B-4F7F-A8A4-952427BC20DE}" type="presParOf" srcId="{38D13C69-36EE-4EE6-84A1-F3C63E146DB8}" destId="{A411128F-57A1-48D1-94D8-977E75246553}" srcOrd="6" destOrd="0" presId="urn:microsoft.com/office/officeart/2018/2/layout/IconCircleList"/>
    <dgm:cxn modelId="{0159C4F5-6009-497E-BE21-CC83289059EE}" type="presParOf" srcId="{A411128F-57A1-48D1-94D8-977E75246553}" destId="{D9150A77-0206-48F2-A65B-8AF3DF9EF902}" srcOrd="0" destOrd="0" presId="urn:microsoft.com/office/officeart/2018/2/layout/IconCircleList"/>
    <dgm:cxn modelId="{2C3CA041-03FA-4E3F-8B7A-4D51C7622D36}" type="presParOf" srcId="{A411128F-57A1-48D1-94D8-977E75246553}" destId="{BC036C1A-4B42-4906-9006-0309125E6FB1}" srcOrd="1" destOrd="0" presId="urn:microsoft.com/office/officeart/2018/2/layout/IconCircleList"/>
    <dgm:cxn modelId="{01995B93-85AA-4A24-B40E-A1400F12BD16}" type="presParOf" srcId="{A411128F-57A1-48D1-94D8-977E75246553}" destId="{C6CD1944-987D-4AF2-B35A-F2E33DCE8CB4}" srcOrd="2" destOrd="0" presId="urn:microsoft.com/office/officeart/2018/2/layout/IconCircleList"/>
    <dgm:cxn modelId="{3E6BD598-042E-4AB7-BE66-B309B377BA51}" type="presParOf" srcId="{A411128F-57A1-48D1-94D8-977E75246553}" destId="{2527E807-A9C8-4331-8511-FBDD804F0A95}" srcOrd="3" destOrd="0" presId="urn:microsoft.com/office/officeart/2018/2/layout/IconCircleList"/>
    <dgm:cxn modelId="{8E3B10E6-53C8-4DBC-AFE4-722E6C503A3C}" type="presParOf" srcId="{38D13C69-36EE-4EE6-84A1-F3C63E146DB8}" destId="{7371CE0E-ED73-43C0-9A98-DABB40F7C944}" srcOrd="7" destOrd="0" presId="urn:microsoft.com/office/officeart/2018/2/layout/IconCircleList"/>
    <dgm:cxn modelId="{189E194E-8AC4-431A-9BE8-7FF074C5D9A5}" type="presParOf" srcId="{38D13C69-36EE-4EE6-84A1-F3C63E146DB8}" destId="{C7AD674C-9D05-4932-AE9E-ED2C90CBF9AC}" srcOrd="8" destOrd="0" presId="urn:microsoft.com/office/officeart/2018/2/layout/IconCircleList"/>
    <dgm:cxn modelId="{586F9126-2CEA-4FC6-989E-C306E544EA3D}" type="presParOf" srcId="{C7AD674C-9D05-4932-AE9E-ED2C90CBF9AC}" destId="{004A3D30-966F-4ED7-9534-4C94725DCE34}" srcOrd="0" destOrd="0" presId="urn:microsoft.com/office/officeart/2018/2/layout/IconCircleList"/>
    <dgm:cxn modelId="{DB9B365A-5511-4879-9589-8AA82F058104}" type="presParOf" srcId="{C7AD674C-9D05-4932-AE9E-ED2C90CBF9AC}" destId="{42D39751-13B0-4C1D-B54E-F023949F281D}" srcOrd="1" destOrd="0" presId="urn:microsoft.com/office/officeart/2018/2/layout/IconCircleList"/>
    <dgm:cxn modelId="{F3794A43-E351-432A-9601-4770EAF050D6}" type="presParOf" srcId="{C7AD674C-9D05-4932-AE9E-ED2C90CBF9AC}" destId="{F7F71344-EBA2-4C36-A8E4-0F3A79FCAE98}" srcOrd="2" destOrd="0" presId="urn:microsoft.com/office/officeart/2018/2/layout/IconCircleList"/>
    <dgm:cxn modelId="{C1DFC138-CB97-4298-807C-A8FD9CD0404D}" type="presParOf" srcId="{C7AD674C-9D05-4932-AE9E-ED2C90CBF9AC}" destId="{80BEE858-6925-41F8-B13F-117A3793F29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CC1117-E329-4153-86AC-D67CB7815DEB}">
      <dsp:nvSpPr>
        <dsp:cNvPr id="0" name=""/>
        <dsp:cNvSpPr/>
      </dsp:nvSpPr>
      <dsp:spPr>
        <a:xfrm>
          <a:off x="0" y="360"/>
          <a:ext cx="10058399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kern="1200"/>
            <a:t>La loro pipeline è composta da:</a:t>
          </a:r>
          <a:endParaRPr lang="en-US" sz="1900" kern="1200"/>
        </a:p>
      </dsp:txBody>
      <dsp:txXfrm>
        <a:off x="22246" y="22606"/>
        <a:ext cx="10013907" cy="411223"/>
      </dsp:txXfrm>
    </dsp:sp>
    <dsp:sp modelId="{96AC71DE-854B-42D0-BBFB-8499E0131EA4}">
      <dsp:nvSpPr>
        <dsp:cNvPr id="0" name=""/>
        <dsp:cNvSpPr/>
      </dsp:nvSpPr>
      <dsp:spPr>
        <a:xfrm>
          <a:off x="0" y="456075"/>
          <a:ext cx="10058399" cy="1297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500" kern="1200"/>
            <a:t>parte dal segnale grezzo,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500" kern="1200"/>
            <a:t>rimuove gli artefatti,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500" kern="1200"/>
            <a:t>filtra con un Butterworth passa‑banda tra 0.5 e 49 Hz,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500" kern="1200"/>
            <a:t>estrae quattordici feature lineari e tre non lineari, 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it-IT" sz="1500" kern="1200"/>
            <a:t>seleziona quelle significative e le classifica</a:t>
          </a:r>
          <a:endParaRPr lang="en-US" sz="1500" kern="1200"/>
        </a:p>
      </dsp:txBody>
      <dsp:txXfrm>
        <a:off x="0" y="456075"/>
        <a:ext cx="10058399" cy="12978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E0B6F-C914-4101-9E54-D66A45873CD2}">
      <dsp:nvSpPr>
        <dsp:cNvPr id="0" name=""/>
        <dsp:cNvSpPr/>
      </dsp:nvSpPr>
      <dsp:spPr>
        <a:xfrm>
          <a:off x="344932" y="759090"/>
          <a:ext cx="812133" cy="8121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960DCD-A6B1-4134-A6E7-A8955485DF0B}">
      <dsp:nvSpPr>
        <dsp:cNvPr id="0" name=""/>
        <dsp:cNvSpPr/>
      </dsp:nvSpPr>
      <dsp:spPr>
        <a:xfrm>
          <a:off x="515480" y="929638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03D0B-80CA-47E4-8933-10A0027C7AF7}">
      <dsp:nvSpPr>
        <dsp:cNvPr id="0" name=""/>
        <dsp:cNvSpPr/>
      </dsp:nvSpPr>
      <dsp:spPr>
        <a:xfrm>
          <a:off x="1331094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1) Caricamento e segmentazione dei dati</a:t>
          </a:r>
          <a:endParaRPr lang="en-US" sz="1400" kern="1200" dirty="0"/>
        </a:p>
      </dsp:txBody>
      <dsp:txXfrm>
        <a:off x="1331094" y="759090"/>
        <a:ext cx="1914313" cy="812133"/>
      </dsp:txXfrm>
    </dsp:sp>
    <dsp:sp modelId="{8EBC7AC6-E614-4426-B39F-4DD25FCE2694}">
      <dsp:nvSpPr>
        <dsp:cNvPr id="0" name=""/>
        <dsp:cNvSpPr/>
      </dsp:nvSpPr>
      <dsp:spPr>
        <a:xfrm>
          <a:off x="3578962" y="759090"/>
          <a:ext cx="812133" cy="8121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CC59F-90C2-4ABB-82C9-2FD0E11933E9}">
      <dsp:nvSpPr>
        <dsp:cNvPr id="0" name=""/>
        <dsp:cNvSpPr/>
      </dsp:nvSpPr>
      <dsp:spPr>
        <a:xfrm>
          <a:off x="3749510" y="929638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BD379-06B4-4F5D-AE47-74B8486B04E9}">
      <dsp:nvSpPr>
        <dsp:cNvPr id="0" name=""/>
        <dsp:cNvSpPr/>
      </dsp:nvSpPr>
      <dsp:spPr>
        <a:xfrm>
          <a:off x="4565123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2) Preprocessing</a:t>
          </a:r>
          <a:endParaRPr lang="en-US" sz="1400" kern="1200"/>
        </a:p>
      </dsp:txBody>
      <dsp:txXfrm>
        <a:off x="4565123" y="759090"/>
        <a:ext cx="1914313" cy="812133"/>
      </dsp:txXfrm>
    </dsp:sp>
    <dsp:sp modelId="{A3D066E8-C275-4A53-834C-3AF9642AD409}">
      <dsp:nvSpPr>
        <dsp:cNvPr id="0" name=""/>
        <dsp:cNvSpPr/>
      </dsp:nvSpPr>
      <dsp:spPr>
        <a:xfrm>
          <a:off x="6812992" y="759090"/>
          <a:ext cx="812133" cy="8121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066A1E-79C0-4A8C-85E2-F1EBA3C3A56D}">
      <dsp:nvSpPr>
        <dsp:cNvPr id="0" name=""/>
        <dsp:cNvSpPr/>
      </dsp:nvSpPr>
      <dsp:spPr>
        <a:xfrm>
          <a:off x="6983540" y="929638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C81D2-F3D2-4633-B76A-F552842707F9}">
      <dsp:nvSpPr>
        <dsp:cNvPr id="0" name=""/>
        <dsp:cNvSpPr/>
      </dsp:nvSpPr>
      <dsp:spPr>
        <a:xfrm>
          <a:off x="7799153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3) Estrazione delle feature</a:t>
          </a:r>
          <a:endParaRPr lang="en-US" sz="1400" kern="1200"/>
        </a:p>
      </dsp:txBody>
      <dsp:txXfrm>
        <a:off x="7799153" y="759090"/>
        <a:ext cx="1914313" cy="812133"/>
      </dsp:txXfrm>
    </dsp:sp>
    <dsp:sp modelId="{88890F30-AA2A-4EAB-A6DD-B564F64A3A4A}">
      <dsp:nvSpPr>
        <dsp:cNvPr id="0" name=""/>
        <dsp:cNvSpPr/>
      </dsp:nvSpPr>
      <dsp:spPr>
        <a:xfrm>
          <a:off x="344932" y="2214856"/>
          <a:ext cx="812133" cy="8121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F9978C-AE57-420A-A8B8-7B4E28CEFAD3}">
      <dsp:nvSpPr>
        <dsp:cNvPr id="0" name=""/>
        <dsp:cNvSpPr/>
      </dsp:nvSpPr>
      <dsp:spPr>
        <a:xfrm>
          <a:off x="515480" y="2385404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17302-C68F-48BD-998B-57A2C6E80701}">
      <dsp:nvSpPr>
        <dsp:cNvPr id="0" name=""/>
        <dsp:cNvSpPr/>
      </dsp:nvSpPr>
      <dsp:spPr>
        <a:xfrm>
          <a:off x="1331094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4) selezione delle feature tramite test ANOVA, con soglia p-value 0,05</a:t>
          </a:r>
          <a:endParaRPr lang="en-US" sz="1400" kern="1200"/>
        </a:p>
      </dsp:txBody>
      <dsp:txXfrm>
        <a:off x="1331094" y="2214856"/>
        <a:ext cx="1914313" cy="812133"/>
      </dsp:txXfrm>
    </dsp:sp>
    <dsp:sp modelId="{E8DDFC81-8BEF-4D18-A6E5-744D713F1A1D}">
      <dsp:nvSpPr>
        <dsp:cNvPr id="0" name=""/>
        <dsp:cNvSpPr/>
      </dsp:nvSpPr>
      <dsp:spPr>
        <a:xfrm>
          <a:off x="3578962" y="2214856"/>
          <a:ext cx="812133" cy="81213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1A446-7F14-4D29-985A-D70F644F5FA6}">
      <dsp:nvSpPr>
        <dsp:cNvPr id="0" name=""/>
        <dsp:cNvSpPr/>
      </dsp:nvSpPr>
      <dsp:spPr>
        <a:xfrm>
          <a:off x="3749510" y="2385404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3FB66-55E3-4D65-AA28-E6329CB6A532}">
      <dsp:nvSpPr>
        <dsp:cNvPr id="0" name=""/>
        <dsp:cNvSpPr/>
      </dsp:nvSpPr>
      <dsp:spPr>
        <a:xfrm>
          <a:off x="4565123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5) Addestramento e validazione di tre classificatori</a:t>
          </a:r>
          <a:endParaRPr lang="en-US" sz="1400" kern="1200"/>
        </a:p>
      </dsp:txBody>
      <dsp:txXfrm>
        <a:off x="4565123" y="2214856"/>
        <a:ext cx="1914313" cy="812133"/>
      </dsp:txXfrm>
    </dsp:sp>
    <dsp:sp modelId="{251725DF-59CD-4C57-930B-36A95A5F0396}">
      <dsp:nvSpPr>
        <dsp:cNvPr id="0" name=""/>
        <dsp:cNvSpPr/>
      </dsp:nvSpPr>
      <dsp:spPr>
        <a:xfrm>
          <a:off x="6812992" y="2214856"/>
          <a:ext cx="812133" cy="8121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0F53A1-358E-42C6-B1C0-FF60C3DC6309}">
      <dsp:nvSpPr>
        <dsp:cNvPr id="0" name=""/>
        <dsp:cNvSpPr/>
      </dsp:nvSpPr>
      <dsp:spPr>
        <a:xfrm>
          <a:off x="6983540" y="2385404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5EF1B5-6288-43C4-B05E-661B28C645D5}">
      <dsp:nvSpPr>
        <dsp:cNvPr id="0" name=""/>
        <dsp:cNvSpPr/>
      </dsp:nvSpPr>
      <dsp:spPr>
        <a:xfrm>
          <a:off x="7799153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/>
            <a:t>6) Valutazione con metriche multiple e matrice di confusione</a:t>
          </a:r>
          <a:endParaRPr lang="en-US" sz="1400" kern="1200"/>
        </a:p>
      </dsp:txBody>
      <dsp:txXfrm>
        <a:off x="7799153" y="2214856"/>
        <a:ext cx="1914313" cy="8121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6EEBC7-C0AA-42C6-B5BB-8B68538ADA0B}">
      <dsp:nvSpPr>
        <dsp:cNvPr id="0" name=""/>
        <dsp:cNvSpPr/>
      </dsp:nvSpPr>
      <dsp:spPr>
        <a:xfrm>
          <a:off x="616949" y="16053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7C0E9F-8643-41C8-A7F1-51BA7E3EA4FC}">
      <dsp:nvSpPr>
        <dsp:cNvPr id="0" name=""/>
        <dsp:cNvSpPr/>
      </dsp:nvSpPr>
      <dsp:spPr>
        <a:xfrm>
          <a:off x="1004512" y="548102"/>
          <a:ext cx="1043437" cy="1043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9C9B0-C4EA-4EC5-80D0-FF611822CA34}">
      <dsp:nvSpPr>
        <dsp:cNvPr id="0" name=""/>
        <dsp:cNvSpPr/>
      </dsp:nvSpPr>
      <dsp:spPr>
        <a:xfrm>
          <a:off x="35606" y="2545540"/>
          <a:ext cx="298125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/>
            <a:t>L’accuratezza del Random Forest scende al 68%; la matrice di confusione mostra una notevole confusione tra stress e amusement, entrambi caratterizzati da un’attivazione del simpatico, anche se di natura diversa.</a:t>
          </a:r>
          <a:br>
            <a:rPr lang="it-IT" sz="1100" kern="1200"/>
          </a:br>
          <a:endParaRPr lang="en-US" sz="1100" kern="1200"/>
        </a:p>
      </dsp:txBody>
      <dsp:txXfrm>
        <a:off x="35606" y="2545540"/>
        <a:ext cx="2981250" cy="1080000"/>
      </dsp:txXfrm>
    </dsp:sp>
    <dsp:sp modelId="{91FBD382-B40B-4399-80A0-96D00B608912}">
      <dsp:nvSpPr>
        <dsp:cNvPr id="0" name=""/>
        <dsp:cNvSpPr/>
      </dsp:nvSpPr>
      <dsp:spPr>
        <a:xfrm>
          <a:off x="4119918" y="16053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03587F-281D-4A0E-96C7-435144103D22}">
      <dsp:nvSpPr>
        <dsp:cNvPr id="0" name=""/>
        <dsp:cNvSpPr/>
      </dsp:nvSpPr>
      <dsp:spPr>
        <a:xfrm>
          <a:off x="4507481" y="548102"/>
          <a:ext cx="1043437" cy="1043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04DE7-0B1E-4B8F-83ED-6CEE5EF350E7}">
      <dsp:nvSpPr>
        <dsp:cNvPr id="0" name=""/>
        <dsp:cNvSpPr/>
      </dsp:nvSpPr>
      <dsp:spPr>
        <a:xfrm>
          <a:off x="3538574" y="2545540"/>
          <a:ext cx="298125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/>
            <a:t>Nel paper, il passaggio da due a cinque classi faceva scendere l’accuratezza al 58%, quindi il nostro degrado è perfettamente in linea con quanto osservato dagli autori.</a:t>
          </a:r>
          <a:br>
            <a:rPr lang="it-IT" sz="1100" kern="1200"/>
          </a:br>
          <a:r>
            <a:rPr lang="it-IT" sz="1100" kern="1200"/>
            <a:t>Anche in questo caso, ANOVA ha selezionato dodici feature, poi ridotte a sei con PCA, ottenendo un piccolo miglioramento.</a:t>
          </a:r>
          <a:endParaRPr lang="en-US" sz="1100" kern="1200"/>
        </a:p>
      </dsp:txBody>
      <dsp:txXfrm>
        <a:off x="3538574" y="2545540"/>
        <a:ext cx="2981250" cy="1080000"/>
      </dsp:txXfrm>
    </dsp:sp>
    <dsp:sp modelId="{26689C18-B9C8-4CF8-911A-0B161EAABA10}">
      <dsp:nvSpPr>
        <dsp:cNvPr id="0" name=""/>
        <dsp:cNvSpPr/>
      </dsp:nvSpPr>
      <dsp:spPr>
        <a:xfrm>
          <a:off x="7622887" y="16053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E5ED45-2299-4620-B59C-0808D6D16BD5}">
      <dsp:nvSpPr>
        <dsp:cNvPr id="0" name=""/>
        <dsp:cNvSpPr/>
      </dsp:nvSpPr>
      <dsp:spPr>
        <a:xfrm>
          <a:off x="8010450" y="548102"/>
          <a:ext cx="1043437" cy="1043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C65BF-22A6-41C1-9CA7-146189C0FC2E}">
      <dsp:nvSpPr>
        <dsp:cNvPr id="0" name=""/>
        <dsp:cNvSpPr/>
      </dsp:nvSpPr>
      <dsp:spPr>
        <a:xfrm>
          <a:off x="7041543" y="2545540"/>
          <a:ext cx="2981250" cy="108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/>
            <a:t>Questi dati ci dicono che con il solo ECG è difficile separare stati emotivi ad alta attivazione; servirebbero altri segnali, come l’attività elettrodermica, per discriminare meglio</a:t>
          </a:r>
          <a:endParaRPr lang="en-US" sz="1100" kern="1200"/>
        </a:p>
      </dsp:txBody>
      <dsp:txXfrm>
        <a:off x="7041543" y="2545540"/>
        <a:ext cx="2981250" cy="108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8854FB-63A1-4BA9-ADB1-31AE677D0148}">
      <dsp:nvSpPr>
        <dsp:cNvPr id="0" name=""/>
        <dsp:cNvSpPr/>
      </dsp:nvSpPr>
      <dsp:spPr>
        <a:xfrm>
          <a:off x="344932" y="759090"/>
          <a:ext cx="812133" cy="8121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434EA-353F-43C4-AB56-40C6A73DB32E}">
      <dsp:nvSpPr>
        <dsp:cNvPr id="0" name=""/>
        <dsp:cNvSpPr/>
      </dsp:nvSpPr>
      <dsp:spPr>
        <a:xfrm>
          <a:off x="515480" y="929638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64BD6-8C04-4AA9-9A2D-EBE3D8B2CFD6}">
      <dsp:nvSpPr>
        <dsp:cNvPr id="0" name=""/>
        <dsp:cNvSpPr/>
      </dsp:nvSpPr>
      <dsp:spPr>
        <a:xfrm>
          <a:off x="1331094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In entrambi i casi, il Random Forest è il classificatore più robusto, e le feature selezionate sono quasi le stesse.</a:t>
          </a:r>
          <a:endParaRPr lang="en-US" sz="1100" kern="1200"/>
        </a:p>
      </dsp:txBody>
      <dsp:txXfrm>
        <a:off x="1331094" y="759090"/>
        <a:ext cx="1914313" cy="812133"/>
      </dsp:txXfrm>
    </dsp:sp>
    <dsp:sp modelId="{710A129B-AF7A-4704-84D0-80A03013780E}">
      <dsp:nvSpPr>
        <dsp:cNvPr id="0" name=""/>
        <dsp:cNvSpPr/>
      </dsp:nvSpPr>
      <dsp:spPr>
        <a:xfrm>
          <a:off x="3578962" y="759090"/>
          <a:ext cx="812133" cy="8121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73089-9315-4F85-AAB5-7A1A4447583B}">
      <dsp:nvSpPr>
        <dsp:cNvPr id="0" name=""/>
        <dsp:cNvSpPr/>
      </dsp:nvSpPr>
      <dsp:spPr>
        <a:xfrm>
          <a:off x="3749510" y="929638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0315C-CFCB-4E3F-9B42-023EEA46FE9B}">
      <dsp:nvSpPr>
        <dsp:cNvPr id="0" name=""/>
        <dsp:cNvSpPr/>
      </dsp:nvSpPr>
      <dsp:spPr>
        <a:xfrm>
          <a:off x="4565123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L’accuratezza binaria risulta essere più bassa della loro, però il compito è diverso e il dataset ha più variabilità.</a:t>
          </a:r>
          <a:endParaRPr lang="en-US" sz="1100" kern="1200"/>
        </a:p>
      </dsp:txBody>
      <dsp:txXfrm>
        <a:off x="4565123" y="759090"/>
        <a:ext cx="1914313" cy="812133"/>
      </dsp:txXfrm>
    </dsp:sp>
    <dsp:sp modelId="{4E8C4668-74FE-49E4-8E6C-3E35F2B8827C}">
      <dsp:nvSpPr>
        <dsp:cNvPr id="0" name=""/>
        <dsp:cNvSpPr/>
      </dsp:nvSpPr>
      <dsp:spPr>
        <a:xfrm>
          <a:off x="6812992" y="759090"/>
          <a:ext cx="812133" cy="8121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94178-F006-4332-BF50-6729840724BB}">
      <dsp:nvSpPr>
        <dsp:cNvPr id="0" name=""/>
        <dsp:cNvSpPr/>
      </dsp:nvSpPr>
      <dsp:spPr>
        <a:xfrm>
          <a:off x="6983540" y="929638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85D3F-FB8C-47ED-9388-9DC5021617AD}">
      <dsp:nvSpPr>
        <dsp:cNvPr id="0" name=""/>
        <dsp:cNvSpPr/>
      </dsp:nvSpPr>
      <dsp:spPr>
        <a:xfrm>
          <a:off x="7799153" y="759090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La PCA ha un effetto analogo, garantendo un aiuto nella multi-classe</a:t>
          </a:r>
          <a:endParaRPr lang="en-US" sz="1100" kern="1200"/>
        </a:p>
      </dsp:txBody>
      <dsp:txXfrm>
        <a:off x="7799153" y="759090"/>
        <a:ext cx="1914313" cy="812133"/>
      </dsp:txXfrm>
    </dsp:sp>
    <dsp:sp modelId="{D9150A77-0206-48F2-A65B-8AF3DF9EF902}">
      <dsp:nvSpPr>
        <dsp:cNvPr id="0" name=""/>
        <dsp:cNvSpPr/>
      </dsp:nvSpPr>
      <dsp:spPr>
        <a:xfrm>
          <a:off x="344932" y="2214856"/>
          <a:ext cx="812133" cy="8121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36C1A-4B42-4906-9006-0309125E6FB1}">
      <dsp:nvSpPr>
        <dsp:cNvPr id="0" name=""/>
        <dsp:cNvSpPr/>
      </dsp:nvSpPr>
      <dsp:spPr>
        <a:xfrm>
          <a:off x="515480" y="2385404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7E807-A9C8-4331-8511-FBDD804F0A95}">
      <dsp:nvSpPr>
        <dsp:cNvPr id="0" name=""/>
        <dsp:cNvSpPr/>
      </dsp:nvSpPr>
      <dsp:spPr>
        <a:xfrm>
          <a:off x="1331094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Ciò dimostra che la metodologia non è legato allo specifico esperimento di guida, ma può essere generalizzata.</a:t>
          </a:r>
          <a:endParaRPr lang="en-US" sz="1100" kern="1200"/>
        </a:p>
      </dsp:txBody>
      <dsp:txXfrm>
        <a:off x="1331094" y="2214856"/>
        <a:ext cx="1914313" cy="812133"/>
      </dsp:txXfrm>
    </dsp:sp>
    <dsp:sp modelId="{004A3D30-966F-4ED7-9534-4C94725DCE34}">
      <dsp:nvSpPr>
        <dsp:cNvPr id="0" name=""/>
        <dsp:cNvSpPr/>
      </dsp:nvSpPr>
      <dsp:spPr>
        <a:xfrm>
          <a:off x="3578962" y="2214856"/>
          <a:ext cx="812133" cy="81213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D39751-13B0-4C1D-B54E-F023949F281D}">
      <dsp:nvSpPr>
        <dsp:cNvPr id="0" name=""/>
        <dsp:cNvSpPr/>
      </dsp:nvSpPr>
      <dsp:spPr>
        <a:xfrm>
          <a:off x="3749510" y="2385404"/>
          <a:ext cx="471037" cy="4710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EE858-6925-41F8-B13F-117A3793F298}">
      <dsp:nvSpPr>
        <dsp:cNvPr id="0" name=""/>
        <dsp:cNvSpPr/>
      </dsp:nvSpPr>
      <dsp:spPr>
        <a:xfrm>
          <a:off x="4565123" y="2214856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Un’altra differenza sta nella dimensioni del campione, poiché nel testo vengono presi come riferimento 10 individui, mentre nel nostro caso sono 15.</a:t>
          </a:r>
          <a:endParaRPr lang="en-US" sz="1100" kern="1200"/>
        </a:p>
      </dsp:txBody>
      <dsp:txXfrm>
        <a:off x="4565123" y="2214856"/>
        <a:ext cx="1914313" cy="812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96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23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307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58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8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9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8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56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50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37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‹N›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3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A033B9-F394-FC8D-6B55-1122E3970D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RELAZIONE DI INTERFACCE </a:t>
            </a:r>
            <a:br>
              <a:rPr lang="it-IT" dirty="0"/>
            </a:br>
            <a:r>
              <a:rPr lang="it-IT" dirty="0"/>
              <a:t>UOMO-MACCHINA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94F5DC5-7D87-F67E-3C4B-895622BD2E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 cura di:</a:t>
            </a:r>
          </a:p>
          <a:p>
            <a:r>
              <a:rPr lang="it-IT" dirty="0"/>
              <a:t>SINDONI MATTIA - 750760</a:t>
            </a:r>
          </a:p>
        </p:txBody>
      </p:sp>
    </p:spTree>
    <p:extLst>
      <p:ext uri="{BB962C8B-B14F-4D97-AF65-F5344CB8AC3E}">
        <p14:creationId xmlns:p14="http://schemas.microsoft.com/office/powerpoint/2010/main" val="3366656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E32D3FD4-6F71-43DF-93B9-87279519C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3A15140-9D52-288B-E63B-F2C75CBFC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Obiettivi del progetto e struttura</a:t>
            </a:r>
          </a:p>
        </p:txBody>
      </p:sp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8272AC82-9A8C-AC1F-5AC9-4D8A12E53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36304"/>
            <a:ext cx="5977938" cy="365266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it-IT" sz="1500">
                <a:solidFill>
                  <a:srgbClr val="FFFFFF"/>
                </a:solidFill>
              </a:rPr>
              <a:t>L’idea nasce dal prendere come riferimento il paper che si occupa di riconoscere l’ipovigilanza alla guida usando l’ECG e di applicarlo a un problema diverso ma concettualmente simile:</a:t>
            </a:r>
            <a:endParaRPr lang="en-US" sz="1500">
              <a:solidFill>
                <a:srgbClr val="FFFFFF"/>
              </a:solidFill>
            </a:endParaRPr>
          </a:p>
          <a:p>
            <a:pPr marL="0" lvl="0" indent="0">
              <a:buNone/>
            </a:pPr>
            <a:r>
              <a:rPr lang="it-IT" sz="1500">
                <a:solidFill>
                  <a:srgbClr val="FFFFFF"/>
                </a:solidFill>
              </a:rPr>
              <a:t>Distinguere lo stress dal rilassamento, usando come dataset WESAD</a:t>
            </a:r>
            <a:endParaRPr lang="en-US" sz="15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it-IT" sz="1500">
                <a:solidFill>
                  <a:srgbClr val="FFFFFF"/>
                </a:solidFill>
              </a:rPr>
              <a:t>L’analisi prenderà la seguente struttura:</a:t>
            </a:r>
          </a:p>
          <a:p>
            <a:r>
              <a:rPr lang="it-IT" sz="1500">
                <a:solidFill>
                  <a:srgbClr val="FFFFFF"/>
                </a:solidFill>
              </a:rPr>
              <a:t>- implementare una pipeline completa in modo che, a partire dal segnale ECG grezzo, riesca a classificare stati psicofisiologici;</a:t>
            </a:r>
          </a:p>
          <a:p>
            <a:r>
              <a:rPr lang="it-IT" sz="1500">
                <a:solidFill>
                  <a:srgbClr val="FFFFFF"/>
                </a:solidFill>
              </a:rPr>
              <a:t>- Confrontare diversi classificatori per individuare il più performante</a:t>
            </a:r>
          </a:p>
          <a:p>
            <a:r>
              <a:rPr lang="it-IT" sz="1500">
                <a:solidFill>
                  <a:srgbClr val="FFFFFF"/>
                </a:solidFill>
              </a:rPr>
              <a:t>- Valutare l’impatto della selezione delle feature</a:t>
            </a:r>
          </a:p>
          <a:p>
            <a:r>
              <a:rPr lang="it-IT" sz="1500">
                <a:solidFill>
                  <a:srgbClr val="FFFFFF"/>
                </a:solidFill>
              </a:rPr>
              <a:t>- fare una revisione critica dei risultati, mettendoli a confronto con il paper di riferimento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F207B4-66C3-4A76-8D54-C2871CF80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5" name="Picture 4" descr="Pile di carta">
            <a:extLst>
              <a:ext uri="{FF2B5EF4-FFF2-40B4-BE49-F238E27FC236}">
                <a16:creationId xmlns:a16="http://schemas.microsoft.com/office/drawing/2014/main" id="{E1D28FAD-222A-044C-413D-E5DE101D0B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242" r="18178" b="-1"/>
          <a:stretch>
            <a:fillRect/>
          </a:stretch>
        </p:blipFill>
        <p:spPr>
          <a:xfrm>
            <a:off x="7611902" y="10"/>
            <a:ext cx="458009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4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B4D3C2-0A9E-3551-532C-74DE91D6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448381"/>
            <a:ext cx="10058400" cy="1450757"/>
          </a:xfrm>
        </p:spPr>
        <p:txBody>
          <a:bodyPr/>
          <a:lstStyle/>
          <a:p>
            <a:r>
              <a:rPr lang="it-IT" dirty="0"/>
              <a:t>Paper di riferimento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C059DF-D831-593E-96B1-BB6A1DC20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927" y="1102581"/>
            <a:ext cx="10058400" cy="848305"/>
          </a:xfrm>
        </p:spPr>
        <p:txBody>
          <a:bodyPr/>
          <a:lstStyle/>
          <a:p>
            <a:r>
              <a:rPr lang="it-IT" dirty="0"/>
              <a:t>Il paper di riferimento è </a:t>
            </a:r>
            <a:r>
              <a:rPr lang="en-US" dirty="0"/>
              <a:t>‘Detection and analysis driver state with electrocardiogram’, </a:t>
            </a:r>
            <a:r>
              <a:rPr lang="en-US" dirty="0" err="1"/>
              <a:t>pubblicato</a:t>
            </a:r>
            <a:r>
              <a:rPr lang="en-US" dirty="0"/>
              <a:t> da </a:t>
            </a:r>
            <a:r>
              <a:rPr lang="en-US" dirty="0" err="1"/>
              <a:t>Sahayadhas</a:t>
            </a:r>
            <a:r>
              <a:rPr lang="en-US" dirty="0"/>
              <a:t>’.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A9AC74B-8E2D-CB1D-86BA-B35FA653FE07}"/>
              </a:ext>
            </a:extLst>
          </p:cNvPr>
          <p:cNvSpPr txBox="1"/>
          <p:nvPr/>
        </p:nvSpPr>
        <p:spPr>
          <a:xfrm>
            <a:off x="1066800" y="1950886"/>
            <a:ext cx="98951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  <a:latin typeface="quote-cjk-patch"/>
              </a:rPr>
              <a:t>Gli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Autori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hanno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simulato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un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lungo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tragitto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in autostrada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su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un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simulatore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, e ne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hanno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registrato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l’ECGdi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dieci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conducenti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,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etichettando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cinque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stati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: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normale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,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sonnolenza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,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fatica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,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disattenzione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 visive e </a:t>
            </a:r>
            <a:r>
              <a:rPr lang="en-US" dirty="0" err="1">
                <a:solidFill>
                  <a:schemeClr val="accent1"/>
                </a:solidFill>
                <a:latin typeface="quote-cjk-patch"/>
              </a:rPr>
              <a:t>cognitiva</a:t>
            </a:r>
            <a:r>
              <a:rPr lang="en-US" dirty="0">
                <a:solidFill>
                  <a:schemeClr val="accent1"/>
                </a:solidFill>
                <a:latin typeface="quote-cjk-patch"/>
              </a:rPr>
              <a:t>.</a:t>
            </a: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E272A56-12E8-8230-BAB6-F9E25F31B7EA}"/>
              </a:ext>
            </a:extLst>
          </p:cNvPr>
          <p:cNvSpPr txBox="1"/>
          <p:nvPr/>
        </p:nvSpPr>
        <p:spPr>
          <a:xfrm>
            <a:off x="1066800" y="4404443"/>
            <a:ext cx="105598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 risultati, in ultimo, mostrano che:</a:t>
            </a:r>
          </a:p>
          <a:p>
            <a:r>
              <a:rPr lang="it-IT" dirty="0"/>
              <a:t>nella classificazione binaria tra normale e sonnolenza raggiungono il 100% di accuratezza, mentre nella classificazione a cinque classi scendono intorno al 58%, con il classificatore Ensemble che risulta sempre il migliore.</a:t>
            </a:r>
            <a:br>
              <a:rPr lang="it-IT" dirty="0"/>
            </a:br>
            <a:r>
              <a:rPr lang="it-IT" dirty="0"/>
              <a:t>Si è deciso quindi di replicare esattamente questa catena di elaborazione, utilizzando però un dataset pubblico.”</a:t>
            </a:r>
          </a:p>
        </p:txBody>
      </p:sp>
      <p:graphicFrame>
        <p:nvGraphicFramePr>
          <p:cNvPr id="10" name="CasellaDiTesto 6">
            <a:extLst>
              <a:ext uri="{FF2B5EF4-FFF2-40B4-BE49-F238E27FC236}">
                <a16:creationId xmlns:a16="http://schemas.microsoft.com/office/drawing/2014/main" id="{BBA989E1-4247-25D0-B7DE-9C2CB25A68F2}"/>
              </a:ext>
            </a:extLst>
          </p:cNvPr>
          <p:cNvGraphicFramePr/>
          <p:nvPr/>
        </p:nvGraphicFramePr>
        <p:xfrm>
          <a:off x="1066800" y="2650117"/>
          <a:ext cx="10058400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203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8A5FB5-F952-3DD9-671A-61E5671C64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93725"/>
            <a:ext cx="3200400" cy="2286000"/>
          </a:xfrm>
        </p:spPr>
        <p:txBody>
          <a:bodyPr/>
          <a:lstStyle/>
          <a:p>
            <a:r>
              <a:rPr lang="it-IT" dirty="0"/>
              <a:t>DATASET:</a:t>
            </a:r>
            <a:br>
              <a:rPr lang="it-IT" dirty="0"/>
            </a:br>
            <a:r>
              <a:rPr lang="it-IT" dirty="0"/>
              <a:t>WESAD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4EFD88-B96D-5C5A-1045-8DDE46E52E9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699125" y="731838"/>
            <a:ext cx="6492875" cy="517525"/>
          </a:xfrm>
        </p:spPr>
        <p:txBody>
          <a:bodyPr/>
          <a:lstStyle/>
          <a:p>
            <a:r>
              <a:rPr lang="it-IT" dirty="0"/>
              <a:t>Il dataset scelto per il confronto è il WESAD: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690E67F-BACE-2F00-BA46-C51A8B32CB51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2925763"/>
            <a:ext cx="3200400" cy="3379787"/>
          </a:xfrm>
        </p:spPr>
        <p:txBody>
          <a:bodyPr/>
          <a:lstStyle/>
          <a:p>
            <a:r>
              <a:rPr lang="it-IT" dirty="0"/>
              <a:t>TODO:</a:t>
            </a:r>
            <a:br>
              <a:rPr lang="it-IT" dirty="0"/>
            </a:br>
            <a:r>
              <a:rPr lang="it-IT" dirty="0"/>
              <a:t>Aggiungere la formula e il calcolo del passaggio a 256Hz a 700Hz.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BEBF422-2369-B416-5EF4-6E91D6C66B28}"/>
              </a:ext>
            </a:extLst>
          </p:cNvPr>
          <p:cNvSpPr txBox="1"/>
          <p:nvPr/>
        </p:nvSpPr>
        <p:spPr>
          <a:xfrm>
            <a:off x="4975123" y="1327355"/>
            <a:ext cx="53782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ogni soggetto sono stati registrati diversi segnali fisiologici: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AC9D6F7-6EA6-D28E-FEAC-773936B613E7}"/>
              </a:ext>
            </a:extLst>
          </p:cNvPr>
          <p:cNvSpPr txBox="1"/>
          <p:nvPr/>
        </p:nvSpPr>
        <p:spPr>
          <a:xfrm>
            <a:off x="4975123" y="223316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Lo studio si è concentrato esclusivamente sull’ECG toracico, acquisito a 700Hz con il dispositivo </a:t>
            </a:r>
            <a:r>
              <a:rPr lang="it-IT" dirty="0" err="1"/>
              <a:t>RespiBAN</a:t>
            </a:r>
            <a:r>
              <a:rPr lang="it-IT" dirty="0"/>
              <a:t> e, poiché il paper lavora a 256 Hz, è stato ricampionato il segnale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02F9833-4F06-25D3-DE5D-08DBA48F3CAA}"/>
              </a:ext>
            </a:extLst>
          </p:cNvPr>
          <p:cNvSpPr txBox="1"/>
          <p:nvPr/>
        </p:nvSpPr>
        <p:spPr>
          <a:xfrm>
            <a:off x="4800600" y="336327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ultimo, è stato scelto WESAD in quanto, è un dataset pubblico, ben documentato, e con condizioni sperimentali abbastanza simili al paper originale</a:t>
            </a:r>
          </a:p>
        </p:txBody>
      </p:sp>
    </p:spTree>
    <p:extLst>
      <p:ext uri="{BB962C8B-B14F-4D97-AF65-F5344CB8AC3E}">
        <p14:creationId xmlns:p14="http://schemas.microsoft.com/office/powerpoint/2010/main" val="264300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209BAFB0-18C4-6938-21D5-4D9B5FEB358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Pipeline implementata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7C03EA91-A9DC-49E2-4D82-F1356AB4E6F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6716063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8632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2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DE980A8F-BECA-5670-4EDF-14824A69C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643467"/>
            <a:ext cx="6255026" cy="5054008"/>
          </a:xfrm>
        </p:spPr>
        <p:txBody>
          <a:bodyPr anchor="ctr">
            <a:normAutofit/>
          </a:bodyPr>
          <a:lstStyle/>
          <a:p>
            <a:pPr algn="r"/>
            <a:r>
              <a:rPr lang="it-IT" sz="6800"/>
              <a:t>PREPROCESSING</a:t>
            </a: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C5010147-98B4-4F3C-095C-E5C609343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995" y="643467"/>
            <a:ext cx="3341488" cy="5054008"/>
          </a:xfrm>
        </p:spPr>
        <p:txBody>
          <a:bodyPr anchor="ctr">
            <a:normAutofit/>
          </a:bodyPr>
          <a:lstStyle/>
          <a:p>
            <a:r>
              <a:rPr lang="it-IT" sz="1300" dirty="0"/>
              <a:t>Il segnale grezzo presenta spesso artefatti come picchi anomali, derive della baseline e rumore ad alta frequenza.</a:t>
            </a:r>
          </a:p>
          <a:p>
            <a:r>
              <a:rPr lang="it-IT" sz="1300" dirty="0"/>
              <a:t>1) applichiamo un algoritmo di ricostruzione dei picchi R</a:t>
            </a:r>
            <a:br>
              <a:rPr lang="it-IT" sz="1300" dirty="0"/>
            </a:br>
            <a:r>
              <a:rPr lang="it-IT" sz="1300" dirty="0"/>
              <a:t>2) filtriamo il segnale con un Butterworth passa‑banda del sesto ordine, con frequenze di taglio a zero‑virgola‑cinque e 49 Hz, come prescritto dal paper</a:t>
            </a:r>
            <a:br>
              <a:rPr lang="it-IT" sz="1300" dirty="0"/>
            </a:br>
            <a:r>
              <a:rPr lang="it-IT" sz="1300" dirty="0"/>
              <a:t>3) usiamo l’algoritmo di Pan‑Tompkins, disponibile nella libreria </a:t>
            </a:r>
            <a:r>
              <a:rPr lang="it-IT" sz="1300" dirty="0" err="1"/>
              <a:t>NeuroKit</a:t>
            </a:r>
            <a:r>
              <a:rPr lang="it-IT" sz="1300" dirty="0"/>
              <a:t>, per rilevare i picchi R, e calcoliamo gli intervalli RR in millisecondi, che sono la base per le nostre feature non lineari</a:t>
            </a:r>
          </a:p>
          <a:p>
            <a:endParaRPr lang="it-IT" sz="1300" dirty="0"/>
          </a:p>
          <a:p>
            <a:endParaRPr lang="it-IT" sz="1300" dirty="0"/>
          </a:p>
        </p:txBody>
      </p:sp>
      <p:cxnSp>
        <p:nvCxnSpPr>
          <p:cNvPr id="26" name="Straight Connector 14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16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8" name="Rectangle 18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34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84355CE-9F53-1C1C-4E82-BE3630259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it-IT"/>
              <a:t>FEATURE ESTRATTE</a:t>
            </a:r>
            <a:endParaRPr lang="it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A7B14-519D-1A52-D8FA-9A5ED57B92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41" r="4815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B3513A-CFDE-116A-12FB-08D723074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it-IT" sz="1700"/>
              <a:t>Le feature che abbiamo estratto sono esattamente le stesse del paper.</a:t>
            </a:r>
            <a:br>
              <a:rPr lang="it-IT" sz="1700"/>
            </a:br>
            <a:r>
              <a:rPr lang="it-IT" sz="1700"/>
              <a:t>Sul segnale ECG filtrato calcoliamo quattordici feature lineari: media, mediana, deviazione standard, varianza, massimo, minimo, quartili, IQR, </a:t>
            </a:r>
            <a:r>
              <a:rPr lang="it-IT" sz="1700" err="1"/>
              <a:t>skewness</a:t>
            </a:r>
            <a:r>
              <a:rPr lang="it-IT" sz="1700"/>
              <a:t>, </a:t>
            </a:r>
            <a:r>
              <a:rPr lang="it-IT" sz="1700" err="1"/>
              <a:t>kurtosis</a:t>
            </a:r>
            <a:r>
              <a:rPr lang="it-IT" sz="1700"/>
              <a:t>, RMS, energia e potenza.</a:t>
            </a:r>
            <a:br>
              <a:rPr lang="it-IT" sz="1700"/>
            </a:br>
            <a:r>
              <a:rPr lang="it-IT" sz="1700"/>
              <a:t>Sugli intervalli RR, invece, calcoliamo tre feature non lineari: l’entropia approssimata, che misura la complessità del segnale; l’esponente di Hurst, che quantifica la memoria a lungo termine della serie temporale; e tre misure di tendenza centrale particolari: media armonica, </a:t>
            </a:r>
            <a:r>
              <a:rPr lang="it-IT" sz="1700" err="1"/>
              <a:t>trimmed</a:t>
            </a:r>
            <a:r>
              <a:rPr lang="it-IT" sz="1700"/>
              <a:t> </a:t>
            </a:r>
            <a:r>
              <a:rPr lang="it-IT" sz="1700" err="1"/>
              <a:t>mean</a:t>
            </a:r>
            <a:r>
              <a:rPr lang="it-IT" sz="1700"/>
              <a:t> e </a:t>
            </a:r>
            <a:r>
              <a:rPr lang="it-IT" sz="1700" err="1"/>
              <a:t>nanmean</a:t>
            </a:r>
            <a:r>
              <a:rPr lang="it-IT" sz="1700"/>
              <a:t>.</a:t>
            </a:r>
            <a:br>
              <a:rPr lang="it-IT" sz="1700"/>
            </a:br>
            <a:r>
              <a:rPr lang="it-IT" sz="1700"/>
              <a:t>In totale abbiamo venti feature per ogni finestra, che vanno a costituire un </a:t>
            </a:r>
            <a:r>
              <a:rPr lang="it-IT" sz="1700" err="1"/>
              <a:t>DataFrame</a:t>
            </a:r>
            <a:r>
              <a:rPr lang="it-IT" sz="1700"/>
              <a:t> di </a:t>
            </a:r>
            <a:r>
              <a:rPr lang="it-IT" sz="1700" err="1"/>
              <a:t>shape</a:t>
            </a:r>
            <a:r>
              <a:rPr lang="it-IT" sz="1700"/>
              <a:t> </a:t>
            </a:r>
            <a:r>
              <a:rPr lang="it-IT" sz="1700" err="1"/>
              <a:t>numero_finestre</a:t>
            </a:r>
            <a:r>
              <a:rPr lang="it-IT" sz="1700"/>
              <a:t> per venti.</a:t>
            </a:r>
            <a:br>
              <a:rPr lang="it-IT" sz="1700"/>
            </a:br>
            <a:r>
              <a:rPr lang="it-IT" sz="1700"/>
              <a:t>Queste feature sono state scelte dagli autori del paper perché si erano dimostrate efficaci nel distinguere gli stati di </a:t>
            </a:r>
            <a:r>
              <a:rPr lang="it-IT" sz="1700" err="1"/>
              <a:t>ipovigilanza</a:t>
            </a:r>
            <a:r>
              <a:rPr lang="it-IT" sz="1700"/>
              <a:t>; noi le abbiamo ereditate e applicate al contesto dello stress</a:t>
            </a:r>
          </a:p>
        </p:txBody>
      </p:sp>
    </p:spTree>
    <p:extLst>
      <p:ext uri="{BB962C8B-B14F-4D97-AF65-F5344CB8AC3E}">
        <p14:creationId xmlns:p14="http://schemas.microsoft.com/office/powerpoint/2010/main" val="2088984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88C5-8FC3-1FF0-AAD4-EE1008294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3AC93E-AEE1-3152-FDFF-EC41B712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192495"/>
            <a:ext cx="6368142" cy="1450757"/>
          </a:xfrm>
        </p:spPr>
        <p:txBody>
          <a:bodyPr>
            <a:normAutofit/>
          </a:bodyPr>
          <a:lstStyle/>
          <a:p>
            <a:r>
              <a:rPr lang="it-IT" dirty="0"/>
              <a:t>FEATURE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30DB3-BFA2-FE5B-9559-E39338B3BE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41" r="4815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AC9954-C68D-097B-77A4-2714ED55A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 lnSpcReduction="10000"/>
          </a:bodyPr>
          <a:lstStyle/>
          <a:p>
            <a:r>
              <a:rPr lang="it-IT" dirty="0"/>
              <a:t>Non tutte le feature sono ugualmente utili. Abbiamo applicato il test ANOVA a una via per selezionare solo quelle con p-</a:t>
            </a:r>
            <a:r>
              <a:rPr lang="it-IT" dirty="0" err="1"/>
              <a:t>value</a:t>
            </a:r>
            <a:r>
              <a:rPr lang="it-IT" dirty="0"/>
              <a:t> inferiore a 0.05.</a:t>
            </a:r>
            <a:br>
              <a:rPr lang="it-IT" sz="1800" dirty="0"/>
            </a:br>
            <a:r>
              <a:rPr lang="it-IT" dirty="0"/>
              <a:t>Nel nostro task binario, le feature risultate significative sono state: media, deviazione standard, varianza, minimo, RMS, energia, esponente di Hurst, </a:t>
            </a:r>
            <a:r>
              <a:rPr lang="it-IT" dirty="0" err="1"/>
              <a:t>skewness</a:t>
            </a:r>
            <a:r>
              <a:rPr lang="it-IT" dirty="0"/>
              <a:t> e altre.</a:t>
            </a:r>
            <a:br>
              <a:rPr lang="it-IT" sz="1800" dirty="0"/>
            </a:br>
            <a:r>
              <a:rPr lang="it-IT" dirty="0"/>
              <a:t>Notate che molte di queste coincidono con quelle riportate nel paper, a conferma della robustezza del metodo.</a:t>
            </a:r>
            <a:br>
              <a:rPr lang="it-IT" sz="1800" dirty="0"/>
            </a:br>
            <a:r>
              <a:rPr lang="it-IT" dirty="0"/>
              <a:t>Per il task multi‑classe abbiamo anche sperimentato la PCA, riducendo la dimensionalità a circa sei componenti principali che spiegano il 95% della varianza.</a:t>
            </a:r>
            <a:br>
              <a:rPr lang="it-IT" sz="1800" dirty="0"/>
            </a:br>
            <a:r>
              <a:rPr lang="it-IT" dirty="0"/>
              <a:t>Questo passaggio, come vedremo, ha aiutato leggermente il Random Forest a generalizzare meglio quando le classi diventano più di due</a:t>
            </a:r>
            <a:endParaRPr lang="it-IT" sz="1700" dirty="0"/>
          </a:p>
        </p:txBody>
      </p:sp>
    </p:spTree>
    <p:extLst>
      <p:ext uri="{BB962C8B-B14F-4D97-AF65-F5344CB8AC3E}">
        <p14:creationId xmlns:p14="http://schemas.microsoft.com/office/powerpoint/2010/main" val="417941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9FD068-8028-1383-C37D-55CCAE25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it-IT"/>
              <a:t>Classificatori utilizzati</a:t>
            </a:r>
            <a:endParaRPr lang="it-IT" dirty="0"/>
          </a:p>
        </p:txBody>
      </p:sp>
      <p:pic>
        <p:nvPicPr>
          <p:cNvPr id="21" name="Graphic 6" descr="Segno di spunta">
            <a:extLst>
              <a:ext uri="{FF2B5EF4-FFF2-40B4-BE49-F238E27FC236}">
                <a16:creationId xmlns:a16="http://schemas.microsoft.com/office/drawing/2014/main" id="{0F00B119-48A1-EAFF-10C2-D22C0A1C89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432" y="2104325"/>
            <a:ext cx="3094997" cy="3094997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46F534-D3D5-8AB2-FF90-4A5763152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>
            <a:normAutofit/>
          </a:bodyPr>
          <a:lstStyle/>
          <a:p>
            <a:r>
              <a:rPr lang="it-IT" sz="1700" dirty="0"/>
              <a:t>Il primo è una Support </a:t>
            </a:r>
            <a:r>
              <a:rPr lang="it-IT" sz="1700" dirty="0" err="1"/>
              <a:t>Vector</a:t>
            </a:r>
            <a:r>
              <a:rPr lang="it-IT" sz="1700" dirty="0"/>
              <a:t> Machine con kernel RBF, parametro C uguale a uno e gamma automatico.</a:t>
            </a:r>
          </a:p>
          <a:p>
            <a:pPr marL="0" indent="0">
              <a:buNone/>
            </a:pPr>
            <a:br>
              <a:rPr lang="it-IT" sz="1700" dirty="0"/>
            </a:br>
            <a:r>
              <a:rPr lang="it-IT" sz="1700" dirty="0"/>
              <a:t>Il secondo è un K‑</a:t>
            </a:r>
            <a:r>
              <a:rPr lang="it-IT" sz="1700" dirty="0" err="1"/>
              <a:t>Nearest</a:t>
            </a:r>
            <a:r>
              <a:rPr lang="it-IT" sz="1700" dirty="0"/>
              <a:t> Neighbors con k uguale a cinque, scelto dopo aver testato diversi valori con il metodo del gomito.</a:t>
            </a:r>
          </a:p>
          <a:p>
            <a:r>
              <a:rPr lang="it-IT" sz="1700" dirty="0"/>
              <a:t>Il terzo, nonché quello che ci aspettiamo funzioni meglio, è l’Ensemble: nello specifico un Random Forest con cento alberi decisionali.</a:t>
            </a:r>
          </a:p>
          <a:p>
            <a:r>
              <a:rPr lang="it-IT" sz="1700" dirty="0"/>
              <a:t>La validazione è fatta con cross‑validazione stratificata a dieci </a:t>
            </a:r>
            <a:r>
              <a:rPr lang="it-IT" sz="1700" dirty="0" err="1"/>
              <a:t>fold</a:t>
            </a:r>
            <a:r>
              <a:rPr lang="it-IT" sz="1700" dirty="0"/>
              <a:t>. È importante sottolineare che la standardizzazione delle feature viene applicata all’interno di ogni singolo </a:t>
            </a:r>
            <a:r>
              <a:rPr lang="it-IT" sz="1700" dirty="0" err="1"/>
              <a:t>fold</a:t>
            </a:r>
            <a:r>
              <a:rPr lang="it-IT" sz="1700" dirty="0"/>
              <a:t>, per evitare il cosiddetto data leakage.</a:t>
            </a:r>
            <a:br>
              <a:rPr lang="it-IT" sz="1700" dirty="0"/>
            </a:br>
            <a:r>
              <a:rPr lang="it-IT" sz="1700" dirty="0"/>
              <a:t>Le metriche che riportiamo sono accuratezza, </a:t>
            </a:r>
            <a:r>
              <a:rPr lang="it-IT" sz="1700" dirty="0" err="1"/>
              <a:t>precision</a:t>
            </a:r>
            <a:r>
              <a:rPr lang="it-IT" sz="1700" dirty="0"/>
              <a:t>, recall e F1 score, sia globali che per classe, oltre alla matrice di confusione cumulativa sui dieci </a:t>
            </a:r>
            <a:r>
              <a:rPr lang="it-IT" sz="1700" dirty="0" err="1"/>
              <a:t>fold</a:t>
            </a:r>
            <a:r>
              <a:rPr lang="it-IT" sz="1700" dirty="0"/>
              <a:t> di test.”</a:t>
            </a:r>
          </a:p>
        </p:txBody>
      </p:sp>
    </p:spTree>
    <p:extLst>
      <p:ext uri="{BB962C8B-B14F-4D97-AF65-F5344CB8AC3E}">
        <p14:creationId xmlns:p14="http://schemas.microsoft.com/office/powerpoint/2010/main" val="2722633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443C3E1-9C06-CE0F-D23A-362827341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 anchor="ctr">
            <a:normAutofit/>
          </a:bodyPr>
          <a:lstStyle/>
          <a:p>
            <a:pPr algn="ctr"/>
            <a:r>
              <a:rPr lang="it-IT">
                <a:solidFill>
                  <a:srgbClr val="FFFFFF"/>
                </a:solidFill>
              </a:rPr>
              <a:t>Risultati – classificazione binaria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516D57-2D97-7B8E-DF44-541C2984A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086678"/>
            <a:ext cx="10027920" cy="3471467"/>
          </a:xfrm>
        </p:spPr>
        <p:txBody>
          <a:bodyPr>
            <a:normAutofit/>
          </a:bodyPr>
          <a:lstStyle/>
          <a:p>
            <a:r>
              <a:rPr lang="it-IT" sz="1700"/>
              <a:t>Il Random Forest ha raggiunto un’accuratezza media dell’88%, con F1 dello 0.87. SVM segue con l’85% e KNN con l’83%.</a:t>
            </a:r>
            <a:br>
              <a:rPr lang="it-IT" sz="1700"/>
            </a:br>
            <a:r>
              <a:rPr lang="it-IT" sz="1700"/>
              <a:t>La matrice di confusione mostra che il modello sbaglia più spesso nel classificare lo stress come baseline che viceversa, anche perché lo stress ha una variabilità inter‑individuale molto elevata.</a:t>
            </a:r>
            <a:br>
              <a:rPr lang="it-IT" sz="1700"/>
            </a:br>
            <a:r>
              <a:rPr lang="it-IT" sz="1700"/>
              <a:t>Confrontando con il paper, loro riportano il 100% tra normale e sonnolenza. </a:t>
            </a:r>
            <a:br>
              <a:rPr lang="it-IT" sz="1700"/>
            </a:br>
            <a:r>
              <a:rPr lang="it-IT" sz="1700"/>
              <a:t>Tale differenza non è significativa in quanto il loro compito era più ‘facile’ perché la sonnolenza provoca un calo molto marcato della variabilità cardiaca, mentre lo stress può manifestarsi in modo diverso da persona a persona.</a:t>
            </a:r>
            <a:br>
              <a:rPr lang="it-IT" sz="1700"/>
            </a:br>
            <a:br>
              <a:rPr lang="it-IT" sz="1700"/>
            </a:br>
            <a:r>
              <a:rPr lang="it-IT" sz="1700"/>
              <a:t>In ogni caso, il nostro risultato conferma due cose: </a:t>
            </a:r>
            <a:br>
              <a:rPr lang="it-IT" sz="1700"/>
            </a:br>
            <a:r>
              <a:rPr lang="it-IT" sz="1700"/>
              <a:t>primo, la pipeline del paper funziona anche fuori dal contesto di guida; </a:t>
            </a:r>
            <a:br>
              <a:rPr lang="it-IT" sz="1700"/>
            </a:br>
            <a:r>
              <a:rPr lang="it-IT" sz="1700"/>
              <a:t>secondo, il Random Forest resta il classificatore migliore.”</a:t>
            </a:r>
            <a:br>
              <a:rPr lang="it-IT" sz="1700"/>
            </a:br>
            <a:endParaRPr lang="it-IT" sz="1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1ED12F-9F06-4B37-87B7-F98F52937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3735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0A084-6A8B-E195-452E-293024E45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E2E59B-F43D-18AE-32D3-80A25711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it-IT" dirty="0"/>
              <a:t>Risultati – classificazione multi-classe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FF247DC5-2DAC-8EE3-76BA-E6EDDB2362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78243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6575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4A69D4-A1CC-5A8B-ECF6-501FC26D2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it-IT" b="1" dirty="0"/>
              <a:t>Confronto con il paper</a:t>
            </a:r>
            <a:endParaRPr lang="it-IT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01F5428A-AF2E-E98F-4425-649CB49DBA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60947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872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E151E5E-97B2-C9CB-DEB1-04C10DB8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 anchor="ctr">
            <a:normAutofit/>
          </a:bodyPr>
          <a:lstStyle/>
          <a:p>
            <a:pPr algn="ctr"/>
            <a:r>
              <a:rPr lang="it-IT">
                <a:solidFill>
                  <a:srgbClr val="FFFFFF"/>
                </a:solidFill>
              </a:rPr>
              <a:t>Criticità e limiti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D1B81D-8452-B094-EF60-89E1EF0AB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086678"/>
            <a:ext cx="10027920" cy="3471467"/>
          </a:xfrm>
        </p:spPr>
        <p:txBody>
          <a:bodyPr>
            <a:normAutofit/>
          </a:bodyPr>
          <a:lstStyle/>
          <a:p>
            <a:r>
              <a:rPr lang="it-IT" dirty="0"/>
              <a:t>- WESAD non è nato per l’</a:t>
            </a:r>
            <a:r>
              <a:rPr lang="it-IT" dirty="0" err="1"/>
              <a:t>ipovigilanza</a:t>
            </a:r>
            <a:r>
              <a:rPr lang="it-IT" dirty="0"/>
              <a:t> ma per lo stress, quindi il confronto col paper non è diretto al 100%;</a:t>
            </a:r>
          </a:p>
          <a:p>
            <a:r>
              <a:rPr lang="it-IT" dirty="0"/>
              <a:t>- La segmentazione in finestre fisse a 60s può mescolare stati di transizione</a:t>
            </a:r>
          </a:p>
          <a:p>
            <a:r>
              <a:rPr lang="it-IT" dirty="0"/>
              <a:t>- E’ stato utilizzato solamente l’ECG, mentre il paper originale aveva anche altri segnali;</a:t>
            </a:r>
          </a:p>
          <a:p>
            <a:r>
              <a:rPr lang="it-IT" dirty="0"/>
              <a:t>- Mancanza di metodologie di ottimizzazione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1ED12F-9F06-4B37-87B7-F98F52937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658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110A723-7329-C42D-5633-D65AB50DB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>
            <a:normAutofit/>
          </a:bodyPr>
          <a:lstStyle/>
          <a:p>
            <a:r>
              <a:rPr lang="it-IT" dirty="0"/>
              <a:t>SVILUPPI FUTURI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C3B020F-2CD8-C4FE-23FD-32432AF8B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it-IT" sz="1100">
                <a:solidFill>
                  <a:srgbClr val="FFFFFF"/>
                </a:solidFill>
              </a:rPr>
              <a:t>Aggiungere feature nel dominio della frequenza, come la potenza in banda LF e HF citate nel paper;</a:t>
            </a:r>
          </a:p>
          <a:p>
            <a:pPr marL="457200" indent="-457200">
              <a:buAutoNum type="arabicParenR"/>
            </a:pPr>
            <a:r>
              <a:rPr lang="it-IT" sz="1100">
                <a:solidFill>
                  <a:srgbClr val="FFFFFF"/>
                </a:solidFill>
              </a:rPr>
              <a:t>Usare architetture deep learning</a:t>
            </a:r>
          </a:p>
          <a:p>
            <a:pPr marL="457200" indent="-457200">
              <a:buAutoNum type="arabicParenR"/>
            </a:pPr>
            <a:r>
              <a:rPr lang="it-IT" sz="1100">
                <a:solidFill>
                  <a:srgbClr val="FFFFFF"/>
                </a:solidFill>
              </a:rPr>
              <a:t>Integrare altri segnali fisiologici, come la respirazione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823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4E6C0A-2E65-9932-E158-E5AEA29E3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AF2DC2-2371-1C4E-72BC-831E4B27F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920021"/>
          </a:xfrm>
        </p:spPr>
        <p:txBody>
          <a:bodyPr/>
          <a:lstStyle/>
          <a:p>
            <a:r>
              <a:rPr lang="it-IT" dirty="0"/>
              <a:t>Si è dimostrato che la </a:t>
            </a:r>
            <a:r>
              <a:rPr lang="it-IT" dirty="0" err="1"/>
              <a:t>papeline</a:t>
            </a:r>
            <a:r>
              <a:rPr lang="it-IT" dirty="0"/>
              <a:t> proposta può essere applicata con successo anche al di fuori della guida, ottenendo buone performance nella classificazione dello stress.</a:t>
            </a:r>
          </a:p>
          <a:p>
            <a:r>
              <a:rPr lang="it-IT" dirty="0"/>
              <a:t>Il Random Forest si è confermato essere un classificatore robusto, e le feature basate sulla variabilità cardiaca sono risultate discriminanti anche per stati emotivi come lo stress e il divertimento.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95266AC-E551-1B61-3BF5-5C5E8B819B89}"/>
              </a:ext>
            </a:extLst>
          </p:cNvPr>
          <p:cNvSpPr txBox="1"/>
          <p:nvPr/>
        </p:nvSpPr>
        <p:spPr>
          <a:xfrm>
            <a:off x="9800774" y="5958551"/>
            <a:ext cx="3272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20722056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1510</Words>
  <Application>Microsoft Office PowerPoint</Application>
  <PresentationFormat>Widescreen</PresentationFormat>
  <Paragraphs>72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Calibri</vt:lpstr>
      <vt:lpstr>Calibri Light</vt:lpstr>
      <vt:lpstr>quote-cjk-patch</vt:lpstr>
      <vt:lpstr>Retrospettivo</vt:lpstr>
      <vt:lpstr>RELAZIONE DI INTERFACCE  UOMO-MACCHINA</vt:lpstr>
      <vt:lpstr>Obiettivi del progetto e struttura</vt:lpstr>
      <vt:lpstr>Paper di riferimento</vt:lpstr>
      <vt:lpstr>DATASET: WESAD</vt:lpstr>
      <vt:lpstr>Pipeline implementata</vt:lpstr>
      <vt:lpstr>PREPROCESSING</vt:lpstr>
      <vt:lpstr>FEATURE ESTRATTE</vt:lpstr>
      <vt:lpstr>FEATURE SELECTION</vt:lpstr>
      <vt:lpstr>Classificatori utilizzati</vt:lpstr>
      <vt:lpstr>Risultati – classificazione binaria</vt:lpstr>
      <vt:lpstr>Risultati – classificazione multi-classe</vt:lpstr>
      <vt:lpstr>Confronto con il paper</vt:lpstr>
      <vt:lpstr>Criticità e limiti</vt:lpstr>
      <vt:lpstr>SVILUPPI FUTURI</vt:lpstr>
      <vt:lpstr>CONCLUSIONE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SINDONI MATTIA</dc:creator>
  <cp:lastModifiedBy>SINDONI MATTIA</cp:lastModifiedBy>
  <cp:revision>2</cp:revision>
  <dcterms:created xsi:type="dcterms:W3CDTF">2026-05-07T10:14:31Z</dcterms:created>
  <dcterms:modified xsi:type="dcterms:W3CDTF">2026-05-13T15:24:23Z</dcterms:modified>
</cp:coreProperties>
</file>